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sldIdLst>
    <p:sldId id="2147472193" r:id="rId2"/>
    <p:sldId id="2147472194" r:id="rId3"/>
    <p:sldId id="2147472180" r:id="rId4"/>
    <p:sldId id="2147472195" r:id="rId5"/>
    <p:sldId id="2147472190" r:id="rId6"/>
    <p:sldId id="2147472196" r:id="rId7"/>
    <p:sldId id="2147472184" r:id="rId8"/>
    <p:sldId id="2147472186" r:id="rId9"/>
    <p:sldId id="2147472188" r:id="rId10"/>
    <p:sldId id="2147472185" r:id="rId11"/>
    <p:sldId id="2147472189" r:id="rId12"/>
    <p:sldId id="2147472187" r:id="rId13"/>
    <p:sldId id="214747219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6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15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812166-947A-4EFE-B3E1-4097A4E14809}" type="doc">
      <dgm:prSet loTypeId="urn:microsoft.com/office/officeart/2005/8/layout/cycle4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87855FB-5A62-4B55-BB0A-544C6EE70217}">
      <dgm:prSet phldrT="[Text]" phldr="0"/>
      <dgm:spPr/>
      <dgm:t>
        <a:bodyPr/>
        <a:lstStyle/>
        <a:p>
          <a:r>
            <a:rPr lang="en-GB" dirty="0"/>
            <a:t>Processing for robust AI models</a:t>
          </a:r>
        </a:p>
      </dgm:t>
    </dgm:pt>
    <dgm:pt modelId="{6261AB0C-01C5-47B9-AB4E-431435AA0DF1}" type="parTrans" cxnId="{DA63BFC1-99A2-4C29-B9D5-3F34E31B6CBD}">
      <dgm:prSet/>
      <dgm:spPr/>
      <dgm:t>
        <a:bodyPr/>
        <a:lstStyle/>
        <a:p>
          <a:endParaRPr lang="en-GB"/>
        </a:p>
      </dgm:t>
    </dgm:pt>
    <dgm:pt modelId="{44CA01E7-1AFA-4A9E-A7EA-989E77AC3F01}" type="sibTrans" cxnId="{DA63BFC1-99A2-4C29-B9D5-3F34E31B6CBD}">
      <dgm:prSet/>
      <dgm:spPr/>
      <dgm:t>
        <a:bodyPr/>
        <a:lstStyle/>
        <a:p>
          <a:endParaRPr lang="en-GB"/>
        </a:p>
      </dgm:t>
    </dgm:pt>
    <dgm:pt modelId="{D062E817-EB13-4346-A8E0-AC620817A633}">
      <dgm:prSet phldrT="[Text]" phldr="0"/>
      <dgm:spPr/>
      <dgm:t>
        <a:bodyPr/>
        <a:lstStyle/>
        <a:p>
          <a:r>
            <a:rPr lang="en-GB" dirty="0"/>
            <a:t>Machine Learning</a:t>
          </a:r>
        </a:p>
      </dgm:t>
    </dgm:pt>
    <dgm:pt modelId="{F7E5DC46-A1F0-4A3C-86E9-32C8BA5CBC87}" type="parTrans" cxnId="{7CCBE6DC-EAF0-4B35-89F3-040B8660B49F}">
      <dgm:prSet/>
      <dgm:spPr/>
      <dgm:t>
        <a:bodyPr/>
        <a:lstStyle/>
        <a:p>
          <a:endParaRPr lang="en-GB"/>
        </a:p>
      </dgm:t>
    </dgm:pt>
    <dgm:pt modelId="{FFAEBF62-FEF6-4E16-9CD0-656A3D45DDAC}" type="sibTrans" cxnId="{7CCBE6DC-EAF0-4B35-89F3-040B8660B49F}">
      <dgm:prSet/>
      <dgm:spPr/>
      <dgm:t>
        <a:bodyPr/>
        <a:lstStyle/>
        <a:p>
          <a:endParaRPr lang="en-GB"/>
        </a:p>
      </dgm:t>
    </dgm:pt>
    <dgm:pt modelId="{AB3E1B63-5308-4BF5-80DE-F762AEBE5CF2}">
      <dgm:prSet phldrT="[Text]" phldr="0"/>
      <dgm:spPr/>
      <dgm:t>
        <a:bodyPr/>
        <a:lstStyle/>
        <a:p>
          <a:r>
            <a:rPr lang="en-GB" dirty="0"/>
            <a:t>Domain Adaptation</a:t>
          </a:r>
        </a:p>
      </dgm:t>
    </dgm:pt>
    <dgm:pt modelId="{CADB5AE6-6C4E-46A6-835C-BA822F9A378D}" type="parTrans" cxnId="{E43ECCB8-8131-45C2-846B-4AC62452ECB2}">
      <dgm:prSet/>
      <dgm:spPr/>
      <dgm:t>
        <a:bodyPr/>
        <a:lstStyle/>
        <a:p>
          <a:endParaRPr lang="en-GB"/>
        </a:p>
      </dgm:t>
    </dgm:pt>
    <dgm:pt modelId="{0D5236DA-4431-4A46-854B-44C360987F0C}" type="sibTrans" cxnId="{E43ECCB8-8131-45C2-846B-4AC62452ECB2}">
      <dgm:prSet/>
      <dgm:spPr/>
      <dgm:t>
        <a:bodyPr/>
        <a:lstStyle/>
        <a:p>
          <a:endParaRPr lang="en-GB"/>
        </a:p>
      </dgm:t>
    </dgm:pt>
    <dgm:pt modelId="{C586147C-23D0-4289-8EB7-81E8B4610071}">
      <dgm:prSet phldrT="[Text]" phldr="0"/>
      <dgm:spPr/>
      <dgm:t>
        <a:bodyPr/>
        <a:lstStyle/>
        <a:p>
          <a:r>
            <a:rPr lang="en-GB" dirty="0"/>
            <a:t>Computer Vision</a:t>
          </a:r>
        </a:p>
      </dgm:t>
    </dgm:pt>
    <dgm:pt modelId="{36E3B4B4-22ED-4F8B-BF9B-A2711C44C5D2}" type="parTrans" cxnId="{379CFAFB-D909-442C-A3D5-7A3930F76E27}">
      <dgm:prSet/>
      <dgm:spPr/>
      <dgm:t>
        <a:bodyPr/>
        <a:lstStyle/>
        <a:p>
          <a:endParaRPr lang="en-GB"/>
        </a:p>
      </dgm:t>
    </dgm:pt>
    <dgm:pt modelId="{5E220822-B082-4E6B-81C3-603F5D171849}" type="sibTrans" cxnId="{379CFAFB-D909-442C-A3D5-7A3930F76E27}">
      <dgm:prSet/>
      <dgm:spPr/>
      <dgm:t>
        <a:bodyPr/>
        <a:lstStyle/>
        <a:p>
          <a:endParaRPr lang="en-GB"/>
        </a:p>
      </dgm:t>
    </dgm:pt>
    <dgm:pt modelId="{7A9540A1-AC8F-4AA9-A7B1-0925CD2C3D68}">
      <dgm:prSet phldrT="[Text]" phldr="0"/>
      <dgm:spPr/>
      <dgm:t>
        <a:bodyPr/>
        <a:lstStyle/>
        <a:p>
          <a:r>
            <a:rPr lang="en-GB" dirty="0"/>
            <a:t>Sparse coding</a:t>
          </a:r>
        </a:p>
      </dgm:t>
    </dgm:pt>
    <dgm:pt modelId="{357643BF-0343-496A-89B6-2CD5B2F58B2A}" type="parTrans" cxnId="{9D18F666-E899-43E0-84CA-8D5F998A9A7E}">
      <dgm:prSet/>
      <dgm:spPr/>
      <dgm:t>
        <a:bodyPr/>
        <a:lstStyle/>
        <a:p>
          <a:endParaRPr lang="en-GB"/>
        </a:p>
      </dgm:t>
    </dgm:pt>
    <dgm:pt modelId="{B6DC45CB-557E-4B24-9DE7-88CE387E5555}" type="sibTrans" cxnId="{9D18F666-E899-43E0-84CA-8D5F998A9A7E}">
      <dgm:prSet/>
      <dgm:spPr/>
      <dgm:t>
        <a:bodyPr/>
        <a:lstStyle/>
        <a:p>
          <a:endParaRPr lang="en-GB"/>
        </a:p>
      </dgm:t>
    </dgm:pt>
    <dgm:pt modelId="{195B9C7A-6627-4E8A-AF83-2C9968ACAF83}">
      <dgm:prSet phldrT="[Text]" phldr="0"/>
      <dgm:spPr/>
      <dgm:t>
        <a:bodyPr/>
        <a:lstStyle/>
        <a:p>
          <a:r>
            <a:rPr lang="en-GB" dirty="0"/>
            <a:t>Optimization</a:t>
          </a:r>
        </a:p>
      </dgm:t>
    </dgm:pt>
    <dgm:pt modelId="{1721F996-489E-4226-93CE-F97A9ABAB2C5}" type="parTrans" cxnId="{50A703F8-658A-4008-A041-E1DC107EE8F0}">
      <dgm:prSet/>
      <dgm:spPr/>
      <dgm:t>
        <a:bodyPr/>
        <a:lstStyle/>
        <a:p>
          <a:endParaRPr lang="en-GB"/>
        </a:p>
      </dgm:t>
    </dgm:pt>
    <dgm:pt modelId="{26530522-8E5E-4629-A311-867D600546A3}" type="sibTrans" cxnId="{50A703F8-658A-4008-A041-E1DC107EE8F0}">
      <dgm:prSet/>
      <dgm:spPr/>
      <dgm:t>
        <a:bodyPr/>
        <a:lstStyle/>
        <a:p>
          <a:endParaRPr lang="en-GB"/>
        </a:p>
      </dgm:t>
    </dgm:pt>
    <dgm:pt modelId="{3F74CD2B-0247-4079-A587-B682E0F52724}">
      <dgm:prSet phldrT="[Text]" phldr="0"/>
      <dgm:spPr/>
      <dgm:t>
        <a:bodyPr/>
        <a:lstStyle/>
        <a:p>
          <a:r>
            <a:rPr lang="en-GB" dirty="0"/>
            <a:t>Multi-</a:t>
          </a:r>
          <a:r>
            <a:rPr lang="en-GB" dirty="0" err="1"/>
            <a:t>center</a:t>
          </a:r>
          <a:r>
            <a:rPr lang="en-GB" dirty="0"/>
            <a:t> data harmonization</a:t>
          </a:r>
        </a:p>
      </dgm:t>
    </dgm:pt>
    <dgm:pt modelId="{48914881-658C-4F56-9934-1D99B0F28F54}" type="parTrans" cxnId="{DCC9D0D3-23D6-4DB7-891F-D9D7C121B153}">
      <dgm:prSet/>
      <dgm:spPr/>
      <dgm:t>
        <a:bodyPr/>
        <a:lstStyle/>
        <a:p>
          <a:endParaRPr lang="en-GB"/>
        </a:p>
      </dgm:t>
    </dgm:pt>
    <dgm:pt modelId="{7ADAB782-B037-4998-9723-04E44BE9BFB0}" type="sibTrans" cxnId="{DCC9D0D3-23D6-4DB7-891F-D9D7C121B153}">
      <dgm:prSet/>
      <dgm:spPr/>
      <dgm:t>
        <a:bodyPr/>
        <a:lstStyle/>
        <a:p>
          <a:endParaRPr lang="en-GB"/>
        </a:p>
      </dgm:t>
    </dgm:pt>
    <dgm:pt modelId="{92AA81FA-9717-4524-8211-5D2AB02756CE}">
      <dgm:prSet phldrT="[Text]" phldr="0"/>
      <dgm:spPr/>
      <dgm:t>
        <a:bodyPr/>
        <a:lstStyle/>
        <a:p>
          <a:r>
            <a:rPr lang="en-GB"/>
            <a:t>Data Science</a:t>
          </a:r>
        </a:p>
      </dgm:t>
    </dgm:pt>
    <dgm:pt modelId="{488E50FF-CE57-4D4F-A954-FC12DC0B37FE}" type="parTrans" cxnId="{E0365DFA-9FB1-485C-BE9A-7FF509702ACC}">
      <dgm:prSet/>
      <dgm:spPr/>
      <dgm:t>
        <a:bodyPr/>
        <a:lstStyle/>
        <a:p>
          <a:endParaRPr lang="en-GB"/>
        </a:p>
      </dgm:t>
    </dgm:pt>
    <dgm:pt modelId="{D5B96717-C86D-4E75-89B5-C11920098F1B}" type="sibTrans" cxnId="{E0365DFA-9FB1-485C-BE9A-7FF509702ACC}">
      <dgm:prSet/>
      <dgm:spPr/>
      <dgm:t>
        <a:bodyPr/>
        <a:lstStyle/>
        <a:p>
          <a:endParaRPr lang="en-GB"/>
        </a:p>
      </dgm:t>
    </dgm:pt>
    <dgm:pt modelId="{9398F92D-4369-459A-8C8A-D5A7B125110E}" type="pres">
      <dgm:prSet presAssocID="{FE812166-947A-4EFE-B3E1-4097A4E1480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BBE4FD8B-4527-47CA-86C6-E405986DC32F}" type="pres">
      <dgm:prSet presAssocID="{FE812166-947A-4EFE-B3E1-4097A4E14809}" presName="children" presStyleCnt="0"/>
      <dgm:spPr/>
    </dgm:pt>
    <dgm:pt modelId="{77F53A9E-26CB-481D-8C5A-14F82A35C8DE}" type="pres">
      <dgm:prSet presAssocID="{FE812166-947A-4EFE-B3E1-4097A4E14809}" presName="child1group" presStyleCnt="0"/>
      <dgm:spPr/>
    </dgm:pt>
    <dgm:pt modelId="{FBB6C370-ED2E-4AC3-806D-6A1FB2978C30}" type="pres">
      <dgm:prSet presAssocID="{FE812166-947A-4EFE-B3E1-4097A4E14809}" presName="child1" presStyleLbl="bgAcc1" presStyleIdx="0" presStyleCnt="4"/>
      <dgm:spPr/>
    </dgm:pt>
    <dgm:pt modelId="{40C712C3-5DDC-4A59-B7B1-1829ED0766A4}" type="pres">
      <dgm:prSet presAssocID="{FE812166-947A-4EFE-B3E1-4097A4E14809}" presName="child1Text" presStyleLbl="bgAcc1" presStyleIdx="0" presStyleCnt="4">
        <dgm:presLayoutVars>
          <dgm:bulletEnabled val="1"/>
        </dgm:presLayoutVars>
      </dgm:prSet>
      <dgm:spPr/>
    </dgm:pt>
    <dgm:pt modelId="{33EE4034-3CFB-4444-A1EA-CA4413512242}" type="pres">
      <dgm:prSet presAssocID="{FE812166-947A-4EFE-B3E1-4097A4E14809}" presName="child2group" presStyleCnt="0"/>
      <dgm:spPr/>
    </dgm:pt>
    <dgm:pt modelId="{9837FDC2-14B1-4FE3-956A-7D79434320BA}" type="pres">
      <dgm:prSet presAssocID="{FE812166-947A-4EFE-B3E1-4097A4E14809}" presName="child2" presStyleLbl="bgAcc1" presStyleIdx="1" presStyleCnt="4"/>
      <dgm:spPr/>
    </dgm:pt>
    <dgm:pt modelId="{87C00189-10BD-40DA-8A17-098D18EB9CF8}" type="pres">
      <dgm:prSet presAssocID="{FE812166-947A-4EFE-B3E1-4097A4E14809}" presName="child2Text" presStyleLbl="bgAcc1" presStyleIdx="1" presStyleCnt="4">
        <dgm:presLayoutVars>
          <dgm:bulletEnabled val="1"/>
        </dgm:presLayoutVars>
      </dgm:prSet>
      <dgm:spPr/>
    </dgm:pt>
    <dgm:pt modelId="{721CB6FA-9B54-4F2A-9BDE-CB039103FDE2}" type="pres">
      <dgm:prSet presAssocID="{FE812166-947A-4EFE-B3E1-4097A4E14809}" presName="child3group" presStyleCnt="0"/>
      <dgm:spPr/>
    </dgm:pt>
    <dgm:pt modelId="{B7653703-82E1-434D-A61F-CCE1F4E9AAFA}" type="pres">
      <dgm:prSet presAssocID="{FE812166-947A-4EFE-B3E1-4097A4E14809}" presName="child3" presStyleLbl="bgAcc1" presStyleIdx="2" presStyleCnt="4"/>
      <dgm:spPr/>
    </dgm:pt>
    <dgm:pt modelId="{F0267B00-4371-4604-B6E2-27B094BA758F}" type="pres">
      <dgm:prSet presAssocID="{FE812166-947A-4EFE-B3E1-4097A4E14809}" presName="child3Text" presStyleLbl="bgAcc1" presStyleIdx="2" presStyleCnt="4">
        <dgm:presLayoutVars>
          <dgm:bulletEnabled val="1"/>
        </dgm:presLayoutVars>
      </dgm:prSet>
      <dgm:spPr/>
    </dgm:pt>
    <dgm:pt modelId="{90EE7F4B-4B85-45AC-A85A-A667D54B1E50}" type="pres">
      <dgm:prSet presAssocID="{FE812166-947A-4EFE-B3E1-4097A4E14809}" presName="child4group" presStyleCnt="0"/>
      <dgm:spPr/>
    </dgm:pt>
    <dgm:pt modelId="{437D1BBE-EA49-4114-B208-8EF63056501E}" type="pres">
      <dgm:prSet presAssocID="{FE812166-947A-4EFE-B3E1-4097A4E14809}" presName="child4" presStyleLbl="bgAcc1" presStyleIdx="3" presStyleCnt="4"/>
      <dgm:spPr/>
    </dgm:pt>
    <dgm:pt modelId="{7327CB5B-8E14-45BF-9F96-16F77F455833}" type="pres">
      <dgm:prSet presAssocID="{FE812166-947A-4EFE-B3E1-4097A4E14809}" presName="child4Text" presStyleLbl="bgAcc1" presStyleIdx="3" presStyleCnt="4">
        <dgm:presLayoutVars>
          <dgm:bulletEnabled val="1"/>
        </dgm:presLayoutVars>
      </dgm:prSet>
      <dgm:spPr/>
    </dgm:pt>
    <dgm:pt modelId="{99CED7BB-81F3-4CFC-90F7-674252F80777}" type="pres">
      <dgm:prSet presAssocID="{FE812166-947A-4EFE-B3E1-4097A4E14809}" presName="childPlaceholder" presStyleCnt="0"/>
      <dgm:spPr/>
    </dgm:pt>
    <dgm:pt modelId="{B693F1F1-7FFD-4FB1-99BD-8CCAADFB86E5}" type="pres">
      <dgm:prSet presAssocID="{FE812166-947A-4EFE-B3E1-4097A4E14809}" presName="circle" presStyleCnt="0"/>
      <dgm:spPr/>
    </dgm:pt>
    <dgm:pt modelId="{95054248-790A-4A5C-AA54-97C70346DC1F}" type="pres">
      <dgm:prSet presAssocID="{FE812166-947A-4EFE-B3E1-4097A4E14809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727ACB02-EA22-4336-AD9B-36BF3E12052C}" type="pres">
      <dgm:prSet presAssocID="{FE812166-947A-4EFE-B3E1-4097A4E14809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6E33488D-96DC-4911-8A88-DF7E03DE2FEE}" type="pres">
      <dgm:prSet presAssocID="{FE812166-947A-4EFE-B3E1-4097A4E14809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E0EF7CCF-FECF-44DD-A859-51C9B69A300F}" type="pres">
      <dgm:prSet presAssocID="{FE812166-947A-4EFE-B3E1-4097A4E14809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492398AB-9275-43D7-B182-E126A6F33210}" type="pres">
      <dgm:prSet presAssocID="{FE812166-947A-4EFE-B3E1-4097A4E14809}" presName="quadrantPlaceholder" presStyleCnt="0"/>
      <dgm:spPr/>
    </dgm:pt>
    <dgm:pt modelId="{655233EF-2355-4372-914E-62F029D0B22F}" type="pres">
      <dgm:prSet presAssocID="{FE812166-947A-4EFE-B3E1-4097A4E14809}" presName="center1" presStyleLbl="fgShp" presStyleIdx="0" presStyleCnt="2"/>
      <dgm:spPr/>
    </dgm:pt>
    <dgm:pt modelId="{2B8477DB-5320-49CE-BE20-227608D9C4BE}" type="pres">
      <dgm:prSet presAssocID="{FE812166-947A-4EFE-B3E1-4097A4E14809}" presName="center2" presStyleLbl="fgShp" presStyleIdx="1" presStyleCnt="2"/>
      <dgm:spPr/>
    </dgm:pt>
  </dgm:ptLst>
  <dgm:cxnLst>
    <dgm:cxn modelId="{D65DC302-3916-4C97-93C6-13CB93381077}" type="presOf" srcId="{3F74CD2B-0247-4079-A587-B682E0F52724}" destId="{E0EF7CCF-FECF-44DD-A859-51C9B69A300F}" srcOrd="0" destOrd="0" presId="urn:microsoft.com/office/officeart/2005/8/layout/cycle4"/>
    <dgm:cxn modelId="{EAB1C810-6CBA-41CA-906C-5F24431A20F5}" type="presOf" srcId="{92AA81FA-9717-4524-8211-5D2AB02756CE}" destId="{437D1BBE-EA49-4114-B208-8EF63056501E}" srcOrd="0" destOrd="0" presId="urn:microsoft.com/office/officeart/2005/8/layout/cycle4"/>
    <dgm:cxn modelId="{DDCB0C12-17DD-4CE9-B600-A37D9DE99843}" type="presOf" srcId="{887855FB-5A62-4B55-BB0A-544C6EE70217}" destId="{95054248-790A-4A5C-AA54-97C70346DC1F}" srcOrd="0" destOrd="0" presId="urn:microsoft.com/office/officeart/2005/8/layout/cycle4"/>
    <dgm:cxn modelId="{DCBB3412-D194-4FCC-B93A-C1C3F1B01648}" type="presOf" srcId="{7A9540A1-AC8F-4AA9-A7B1-0925CD2C3D68}" destId="{6E33488D-96DC-4911-8A88-DF7E03DE2FEE}" srcOrd="0" destOrd="0" presId="urn:microsoft.com/office/officeart/2005/8/layout/cycle4"/>
    <dgm:cxn modelId="{199DDF17-BA63-4487-AA34-7E7532CF7233}" type="presOf" srcId="{C586147C-23D0-4289-8EB7-81E8B4610071}" destId="{87C00189-10BD-40DA-8A17-098D18EB9CF8}" srcOrd="1" destOrd="0" presId="urn:microsoft.com/office/officeart/2005/8/layout/cycle4"/>
    <dgm:cxn modelId="{749BE962-74AA-42EE-9317-174EE8ECBC44}" type="presOf" srcId="{D062E817-EB13-4346-A8E0-AC620817A633}" destId="{FBB6C370-ED2E-4AC3-806D-6A1FB2978C30}" srcOrd="0" destOrd="0" presId="urn:microsoft.com/office/officeart/2005/8/layout/cycle4"/>
    <dgm:cxn modelId="{9D18F666-E899-43E0-84CA-8D5F998A9A7E}" srcId="{FE812166-947A-4EFE-B3E1-4097A4E14809}" destId="{7A9540A1-AC8F-4AA9-A7B1-0925CD2C3D68}" srcOrd="2" destOrd="0" parTransId="{357643BF-0343-496A-89B6-2CD5B2F58B2A}" sibTransId="{B6DC45CB-557E-4B24-9DE7-88CE387E5555}"/>
    <dgm:cxn modelId="{E9AF136F-FCC8-45E9-8247-247448549217}" type="presOf" srcId="{195B9C7A-6627-4E8A-AF83-2C9968ACAF83}" destId="{F0267B00-4371-4604-B6E2-27B094BA758F}" srcOrd="1" destOrd="0" presId="urn:microsoft.com/office/officeart/2005/8/layout/cycle4"/>
    <dgm:cxn modelId="{96946CB4-A2F4-4795-A5A1-2E0DFD52B8AC}" type="presOf" srcId="{C586147C-23D0-4289-8EB7-81E8B4610071}" destId="{9837FDC2-14B1-4FE3-956A-7D79434320BA}" srcOrd="0" destOrd="0" presId="urn:microsoft.com/office/officeart/2005/8/layout/cycle4"/>
    <dgm:cxn modelId="{E43ECCB8-8131-45C2-846B-4AC62452ECB2}" srcId="{FE812166-947A-4EFE-B3E1-4097A4E14809}" destId="{AB3E1B63-5308-4BF5-80DE-F762AEBE5CF2}" srcOrd="1" destOrd="0" parTransId="{CADB5AE6-6C4E-46A6-835C-BA822F9A378D}" sibTransId="{0D5236DA-4431-4A46-854B-44C360987F0C}"/>
    <dgm:cxn modelId="{DA63BFC1-99A2-4C29-B9D5-3F34E31B6CBD}" srcId="{FE812166-947A-4EFE-B3E1-4097A4E14809}" destId="{887855FB-5A62-4B55-BB0A-544C6EE70217}" srcOrd="0" destOrd="0" parTransId="{6261AB0C-01C5-47B9-AB4E-431435AA0DF1}" sibTransId="{44CA01E7-1AFA-4A9E-A7EA-989E77AC3F01}"/>
    <dgm:cxn modelId="{E08BEACA-F975-4612-AC33-AD359E72F1A8}" type="presOf" srcId="{AB3E1B63-5308-4BF5-80DE-F762AEBE5CF2}" destId="{727ACB02-EA22-4336-AD9B-36BF3E12052C}" srcOrd="0" destOrd="0" presId="urn:microsoft.com/office/officeart/2005/8/layout/cycle4"/>
    <dgm:cxn modelId="{00CFBDCD-6FFE-4D43-BDA8-8F97392D95AB}" type="presOf" srcId="{92AA81FA-9717-4524-8211-5D2AB02756CE}" destId="{7327CB5B-8E14-45BF-9F96-16F77F455833}" srcOrd="1" destOrd="0" presId="urn:microsoft.com/office/officeart/2005/8/layout/cycle4"/>
    <dgm:cxn modelId="{DCC9D0D3-23D6-4DB7-891F-D9D7C121B153}" srcId="{FE812166-947A-4EFE-B3E1-4097A4E14809}" destId="{3F74CD2B-0247-4079-A587-B682E0F52724}" srcOrd="3" destOrd="0" parTransId="{48914881-658C-4F56-9934-1D99B0F28F54}" sibTransId="{7ADAB782-B037-4998-9723-04E44BE9BFB0}"/>
    <dgm:cxn modelId="{AAE05CD6-F68D-4907-A77A-E1653AB533BE}" type="presOf" srcId="{FE812166-947A-4EFE-B3E1-4097A4E14809}" destId="{9398F92D-4369-459A-8C8A-D5A7B125110E}" srcOrd="0" destOrd="0" presId="urn:microsoft.com/office/officeart/2005/8/layout/cycle4"/>
    <dgm:cxn modelId="{094D5DD8-056F-4026-92BA-57A661CCB218}" type="presOf" srcId="{195B9C7A-6627-4E8A-AF83-2C9968ACAF83}" destId="{B7653703-82E1-434D-A61F-CCE1F4E9AAFA}" srcOrd="0" destOrd="0" presId="urn:microsoft.com/office/officeart/2005/8/layout/cycle4"/>
    <dgm:cxn modelId="{7CCBE6DC-EAF0-4B35-89F3-040B8660B49F}" srcId="{887855FB-5A62-4B55-BB0A-544C6EE70217}" destId="{D062E817-EB13-4346-A8E0-AC620817A633}" srcOrd="0" destOrd="0" parTransId="{F7E5DC46-A1F0-4A3C-86E9-32C8BA5CBC87}" sibTransId="{FFAEBF62-FEF6-4E16-9CD0-656A3D45DDAC}"/>
    <dgm:cxn modelId="{50A703F8-658A-4008-A041-E1DC107EE8F0}" srcId="{7A9540A1-AC8F-4AA9-A7B1-0925CD2C3D68}" destId="{195B9C7A-6627-4E8A-AF83-2C9968ACAF83}" srcOrd="0" destOrd="0" parTransId="{1721F996-489E-4226-93CE-F97A9ABAB2C5}" sibTransId="{26530522-8E5E-4629-A311-867D600546A3}"/>
    <dgm:cxn modelId="{E0365DFA-9FB1-485C-BE9A-7FF509702ACC}" srcId="{3F74CD2B-0247-4079-A587-B682E0F52724}" destId="{92AA81FA-9717-4524-8211-5D2AB02756CE}" srcOrd="0" destOrd="0" parTransId="{488E50FF-CE57-4D4F-A954-FC12DC0B37FE}" sibTransId="{D5B96717-C86D-4E75-89B5-C11920098F1B}"/>
    <dgm:cxn modelId="{0B4DAAFB-5175-4106-A1CB-67E0E51F27F6}" type="presOf" srcId="{D062E817-EB13-4346-A8E0-AC620817A633}" destId="{40C712C3-5DDC-4A59-B7B1-1829ED0766A4}" srcOrd="1" destOrd="0" presId="urn:microsoft.com/office/officeart/2005/8/layout/cycle4"/>
    <dgm:cxn modelId="{379CFAFB-D909-442C-A3D5-7A3930F76E27}" srcId="{AB3E1B63-5308-4BF5-80DE-F762AEBE5CF2}" destId="{C586147C-23D0-4289-8EB7-81E8B4610071}" srcOrd="0" destOrd="0" parTransId="{36E3B4B4-22ED-4F8B-BF9B-A2711C44C5D2}" sibTransId="{5E220822-B082-4E6B-81C3-603F5D171849}"/>
    <dgm:cxn modelId="{BAC7DF6A-05B8-490E-90A1-9CC71274ECAF}" type="presParOf" srcId="{9398F92D-4369-459A-8C8A-D5A7B125110E}" destId="{BBE4FD8B-4527-47CA-86C6-E405986DC32F}" srcOrd="0" destOrd="0" presId="urn:microsoft.com/office/officeart/2005/8/layout/cycle4"/>
    <dgm:cxn modelId="{10DA5D03-72C0-466D-8A8D-9100F2C06B55}" type="presParOf" srcId="{BBE4FD8B-4527-47CA-86C6-E405986DC32F}" destId="{77F53A9E-26CB-481D-8C5A-14F82A35C8DE}" srcOrd="0" destOrd="0" presId="urn:microsoft.com/office/officeart/2005/8/layout/cycle4"/>
    <dgm:cxn modelId="{1D7649C0-F252-4386-892B-B4EE781532B8}" type="presParOf" srcId="{77F53A9E-26CB-481D-8C5A-14F82A35C8DE}" destId="{FBB6C370-ED2E-4AC3-806D-6A1FB2978C30}" srcOrd="0" destOrd="0" presId="urn:microsoft.com/office/officeart/2005/8/layout/cycle4"/>
    <dgm:cxn modelId="{3DA4A029-3367-4D68-BB92-AEF664A0EEE5}" type="presParOf" srcId="{77F53A9E-26CB-481D-8C5A-14F82A35C8DE}" destId="{40C712C3-5DDC-4A59-B7B1-1829ED0766A4}" srcOrd="1" destOrd="0" presId="urn:microsoft.com/office/officeart/2005/8/layout/cycle4"/>
    <dgm:cxn modelId="{EC73F2C1-E7FA-467F-8A34-873F6FEFBB89}" type="presParOf" srcId="{BBE4FD8B-4527-47CA-86C6-E405986DC32F}" destId="{33EE4034-3CFB-4444-A1EA-CA4413512242}" srcOrd="1" destOrd="0" presId="urn:microsoft.com/office/officeart/2005/8/layout/cycle4"/>
    <dgm:cxn modelId="{6FF9530B-D04A-498F-97B3-879DF990CD68}" type="presParOf" srcId="{33EE4034-3CFB-4444-A1EA-CA4413512242}" destId="{9837FDC2-14B1-4FE3-956A-7D79434320BA}" srcOrd="0" destOrd="0" presId="urn:microsoft.com/office/officeart/2005/8/layout/cycle4"/>
    <dgm:cxn modelId="{7988ED9B-E065-4F69-9FA3-637396FEBF1E}" type="presParOf" srcId="{33EE4034-3CFB-4444-A1EA-CA4413512242}" destId="{87C00189-10BD-40DA-8A17-098D18EB9CF8}" srcOrd="1" destOrd="0" presId="urn:microsoft.com/office/officeart/2005/8/layout/cycle4"/>
    <dgm:cxn modelId="{F91DB84F-07EC-4B7A-9A30-83D1404FE1DE}" type="presParOf" srcId="{BBE4FD8B-4527-47CA-86C6-E405986DC32F}" destId="{721CB6FA-9B54-4F2A-9BDE-CB039103FDE2}" srcOrd="2" destOrd="0" presId="urn:microsoft.com/office/officeart/2005/8/layout/cycle4"/>
    <dgm:cxn modelId="{1CAFB2C1-B153-41F1-9572-541DC1883F3C}" type="presParOf" srcId="{721CB6FA-9B54-4F2A-9BDE-CB039103FDE2}" destId="{B7653703-82E1-434D-A61F-CCE1F4E9AAFA}" srcOrd="0" destOrd="0" presId="urn:microsoft.com/office/officeart/2005/8/layout/cycle4"/>
    <dgm:cxn modelId="{737AE23C-60DE-4904-8CD7-AE2903D4B584}" type="presParOf" srcId="{721CB6FA-9B54-4F2A-9BDE-CB039103FDE2}" destId="{F0267B00-4371-4604-B6E2-27B094BA758F}" srcOrd="1" destOrd="0" presId="urn:microsoft.com/office/officeart/2005/8/layout/cycle4"/>
    <dgm:cxn modelId="{EFB24C1B-CA5B-4C00-9A2A-A030A681149B}" type="presParOf" srcId="{BBE4FD8B-4527-47CA-86C6-E405986DC32F}" destId="{90EE7F4B-4B85-45AC-A85A-A667D54B1E50}" srcOrd="3" destOrd="0" presId="urn:microsoft.com/office/officeart/2005/8/layout/cycle4"/>
    <dgm:cxn modelId="{D0B79619-5ED4-475D-9544-6931AE51E4B4}" type="presParOf" srcId="{90EE7F4B-4B85-45AC-A85A-A667D54B1E50}" destId="{437D1BBE-EA49-4114-B208-8EF63056501E}" srcOrd="0" destOrd="0" presId="urn:microsoft.com/office/officeart/2005/8/layout/cycle4"/>
    <dgm:cxn modelId="{F619E712-4823-43BC-9A38-0BD5123D2436}" type="presParOf" srcId="{90EE7F4B-4B85-45AC-A85A-A667D54B1E50}" destId="{7327CB5B-8E14-45BF-9F96-16F77F455833}" srcOrd="1" destOrd="0" presId="urn:microsoft.com/office/officeart/2005/8/layout/cycle4"/>
    <dgm:cxn modelId="{00F6E80C-CF30-44BC-9FF3-8F2F4DAA7E73}" type="presParOf" srcId="{BBE4FD8B-4527-47CA-86C6-E405986DC32F}" destId="{99CED7BB-81F3-4CFC-90F7-674252F80777}" srcOrd="4" destOrd="0" presId="urn:microsoft.com/office/officeart/2005/8/layout/cycle4"/>
    <dgm:cxn modelId="{612EC810-11EA-46EF-827C-4149F4359E45}" type="presParOf" srcId="{9398F92D-4369-459A-8C8A-D5A7B125110E}" destId="{B693F1F1-7FFD-4FB1-99BD-8CCAADFB86E5}" srcOrd="1" destOrd="0" presId="urn:microsoft.com/office/officeart/2005/8/layout/cycle4"/>
    <dgm:cxn modelId="{AD18D3EC-8612-4DCF-8F91-E261A0E2A4E5}" type="presParOf" srcId="{B693F1F1-7FFD-4FB1-99BD-8CCAADFB86E5}" destId="{95054248-790A-4A5C-AA54-97C70346DC1F}" srcOrd="0" destOrd="0" presId="urn:microsoft.com/office/officeart/2005/8/layout/cycle4"/>
    <dgm:cxn modelId="{AC685551-A903-425F-B1DB-B57DB212A1A8}" type="presParOf" srcId="{B693F1F1-7FFD-4FB1-99BD-8CCAADFB86E5}" destId="{727ACB02-EA22-4336-AD9B-36BF3E12052C}" srcOrd="1" destOrd="0" presId="urn:microsoft.com/office/officeart/2005/8/layout/cycle4"/>
    <dgm:cxn modelId="{EB5F6375-3EAE-4858-936B-C5A48EFBE239}" type="presParOf" srcId="{B693F1F1-7FFD-4FB1-99BD-8CCAADFB86E5}" destId="{6E33488D-96DC-4911-8A88-DF7E03DE2FEE}" srcOrd="2" destOrd="0" presId="urn:microsoft.com/office/officeart/2005/8/layout/cycle4"/>
    <dgm:cxn modelId="{6B6EDF2F-6FE3-4459-95AD-7ED5C5129AAC}" type="presParOf" srcId="{B693F1F1-7FFD-4FB1-99BD-8CCAADFB86E5}" destId="{E0EF7CCF-FECF-44DD-A859-51C9B69A300F}" srcOrd="3" destOrd="0" presId="urn:microsoft.com/office/officeart/2005/8/layout/cycle4"/>
    <dgm:cxn modelId="{AA9EE62C-AA21-44EC-BB63-ECB57226CD4B}" type="presParOf" srcId="{B693F1F1-7FFD-4FB1-99BD-8CCAADFB86E5}" destId="{492398AB-9275-43D7-B182-E126A6F33210}" srcOrd="4" destOrd="0" presId="urn:microsoft.com/office/officeart/2005/8/layout/cycle4"/>
    <dgm:cxn modelId="{484B2923-4B0D-4307-84B4-B5DD8D1C1014}" type="presParOf" srcId="{9398F92D-4369-459A-8C8A-D5A7B125110E}" destId="{655233EF-2355-4372-914E-62F029D0B22F}" srcOrd="2" destOrd="0" presId="urn:microsoft.com/office/officeart/2005/8/layout/cycle4"/>
    <dgm:cxn modelId="{185F0E9B-DBC7-4B76-BC46-8D88DF4D9127}" type="presParOf" srcId="{9398F92D-4369-459A-8C8A-D5A7B125110E}" destId="{2B8477DB-5320-49CE-BE20-227608D9C4B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53703-82E1-434D-A61F-CCE1F4E9AAFA}">
      <dsp:nvSpPr>
        <dsp:cNvPr id="0" name=""/>
        <dsp:cNvSpPr/>
      </dsp:nvSpPr>
      <dsp:spPr>
        <a:xfrm>
          <a:off x="2848091" y="1864978"/>
          <a:ext cx="1354852" cy="8776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Optimization</a:t>
          </a:r>
        </a:p>
      </dsp:txBody>
      <dsp:txXfrm>
        <a:off x="3273825" y="2103667"/>
        <a:ext cx="909838" cy="619669"/>
      </dsp:txXfrm>
    </dsp:sp>
    <dsp:sp modelId="{437D1BBE-EA49-4114-B208-8EF63056501E}">
      <dsp:nvSpPr>
        <dsp:cNvPr id="0" name=""/>
        <dsp:cNvSpPr/>
      </dsp:nvSpPr>
      <dsp:spPr>
        <a:xfrm>
          <a:off x="637542" y="1864978"/>
          <a:ext cx="1354852" cy="8776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/>
            <a:t>Data Science</a:t>
          </a:r>
        </a:p>
      </dsp:txBody>
      <dsp:txXfrm>
        <a:off x="656821" y="2103667"/>
        <a:ext cx="909838" cy="619669"/>
      </dsp:txXfrm>
    </dsp:sp>
    <dsp:sp modelId="{9837FDC2-14B1-4FE3-956A-7D79434320BA}">
      <dsp:nvSpPr>
        <dsp:cNvPr id="0" name=""/>
        <dsp:cNvSpPr/>
      </dsp:nvSpPr>
      <dsp:spPr>
        <a:xfrm>
          <a:off x="2848091" y="0"/>
          <a:ext cx="1354852" cy="8776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Computer Vision</a:t>
          </a:r>
        </a:p>
      </dsp:txBody>
      <dsp:txXfrm>
        <a:off x="3273825" y="19279"/>
        <a:ext cx="909838" cy="619669"/>
      </dsp:txXfrm>
    </dsp:sp>
    <dsp:sp modelId="{FBB6C370-ED2E-4AC3-806D-6A1FB2978C30}">
      <dsp:nvSpPr>
        <dsp:cNvPr id="0" name=""/>
        <dsp:cNvSpPr/>
      </dsp:nvSpPr>
      <dsp:spPr>
        <a:xfrm>
          <a:off x="637542" y="0"/>
          <a:ext cx="1354852" cy="8776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Machine Learning</a:t>
          </a:r>
        </a:p>
      </dsp:txBody>
      <dsp:txXfrm>
        <a:off x="656821" y="19279"/>
        <a:ext cx="909838" cy="619669"/>
      </dsp:txXfrm>
    </dsp:sp>
    <dsp:sp modelId="{95054248-790A-4A5C-AA54-97C70346DC1F}">
      <dsp:nvSpPr>
        <dsp:cNvPr id="0" name=""/>
        <dsp:cNvSpPr/>
      </dsp:nvSpPr>
      <dsp:spPr>
        <a:xfrm>
          <a:off x="1205264" y="156329"/>
          <a:ext cx="1187552" cy="118755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Processing for robust AI models</a:t>
          </a:r>
        </a:p>
      </dsp:txBody>
      <dsp:txXfrm>
        <a:off x="1553090" y="504155"/>
        <a:ext cx="839726" cy="839726"/>
      </dsp:txXfrm>
    </dsp:sp>
    <dsp:sp modelId="{727ACB02-EA22-4336-AD9B-36BF3E12052C}">
      <dsp:nvSpPr>
        <dsp:cNvPr id="0" name=""/>
        <dsp:cNvSpPr/>
      </dsp:nvSpPr>
      <dsp:spPr>
        <a:xfrm rot="5400000">
          <a:off x="2447669" y="156329"/>
          <a:ext cx="1187552" cy="118755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Domain Adaptation</a:t>
          </a:r>
        </a:p>
      </dsp:txBody>
      <dsp:txXfrm rot="-5400000">
        <a:off x="2447669" y="504155"/>
        <a:ext cx="839726" cy="839726"/>
      </dsp:txXfrm>
    </dsp:sp>
    <dsp:sp modelId="{6E33488D-96DC-4911-8A88-DF7E03DE2FEE}">
      <dsp:nvSpPr>
        <dsp:cNvPr id="0" name=""/>
        <dsp:cNvSpPr/>
      </dsp:nvSpPr>
      <dsp:spPr>
        <a:xfrm rot="10800000">
          <a:off x="2447669" y="1398734"/>
          <a:ext cx="1187552" cy="118755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Sparse coding</a:t>
          </a:r>
        </a:p>
      </dsp:txBody>
      <dsp:txXfrm rot="10800000">
        <a:off x="2447669" y="1398734"/>
        <a:ext cx="839726" cy="839726"/>
      </dsp:txXfrm>
    </dsp:sp>
    <dsp:sp modelId="{E0EF7CCF-FECF-44DD-A859-51C9B69A300F}">
      <dsp:nvSpPr>
        <dsp:cNvPr id="0" name=""/>
        <dsp:cNvSpPr/>
      </dsp:nvSpPr>
      <dsp:spPr>
        <a:xfrm rot="16200000">
          <a:off x="1205264" y="1398734"/>
          <a:ext cx="1187552" cy="118755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Multi-</a:t>
          </a:r>
          <a:r>
            <a:rPr lang="en-GB" sz="800" kern="1200" dirty="0" err="1"/>
            <a:t>center</a:t>
          </a:r>
          <a:r>
            <a:rPr lang="en-GB" sz="800" kern="1200" dirty="0"/>
            <a:t> data harmonization</a:t>
          </a:r>
        </a:p>
      </dsp:txBody>
      <dsp:txXfrm rot="5400000">
        <a:off x="1553090" y="1398734"/>
        <a:ext cx="839726" cy="839726"/>
      </dsp:txXfrm>
    </dsp:sp>
    <dsp:sp modelId="{655233EF-2355-4372-914E-62F029D0B22F}">
      <dsp:nvSpPr>
        <dsp:cNvPr id="0" name=""/>
        <dsp:cNvSpPr/>
      </dsp:nvSpPr>
      <dsp:spPr>
        <a:xfrm>
          <a:off x="2215232" y="1124472"/>
          <a:ext cx="410021" cy="35654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477DB-5320-49CE-BE20-227608D9C4BE}">
      <dsp:nvSpPr>
        <dsp:cNvPr id="0" name=""/>
        <dsp:cNvSpPr/>
      </dsp:nvSpPr>
      <dsp:spPr>
        <a:xfrm rot="10800000">
          <a:off x="2215232" y="1261603"/>
          <a:ext cx="410021" cy="35654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65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61949" y="4731394"/>
            <a:ext cx="8729640" cy="412106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26" y="1105401"/>
            <a:ext cx="8778562" cy="329156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80000"/>
              </a:lnSpc>
              <a:defRPr sz="61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49" y="4315007"/>
            <a:ext cx="8729640" cy="330017"/>
          </a:xfrm>
        </p:spPr>
        <p:txBody>
          <a:bodyPr>
            <a:normAutofit/>
          </a:bodyPr>
          <a:lstStyle>
            <a:lvl1pPr marL="0" indent="0" algn="l">
              <a:buNone/>
              <a:defRPr sz="1500">
                <a:solidFill>
                  <a:schemeClr val="tx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8" name="Rounded Rectangle 7"/>
          <p:cNvSpPr/>
          <p:nvPr/>
        </p:nvSpPr>
        <p:spPr>
          <a:xfrm>
            <a:off x="250825" y="4629150"/>
            <a:ext cx="8640764" cy="945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2" name="Rectangle 11"/>
          <p:cNvSpPr/>
          <p:nvPr/>
        </p:nvSpPr>
        <p:spPr>
          <a:xfrm>
            <a:off x="0" y="2"/>
            <a:ext cx="9144000" cy="6875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4" name="TextBox 13"/>
          <p:cNvSpPr txBox="1"/>
          <p:nvPr/>
        </p:nvSpPr>
        <p:spPr>
          <a:xfrm>
            <a:off x="7883525" y="126668"/>
            <a:ext cx="1120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solidFill>
                  <a:schemeClr val="tx2"/>
                </a:solidFill>
              </a:rPr>
              <a:t>in partnership</a:t>
            </a:r>
            <a:r>
              <a:rPr lang="en-GB" sz="900" baseline="0" dirty="0">
                <a:solidFill>
                  <a:schemeClr val="tx2"/>
                </a:solidFill>
              </a:rPr>
              <a:t> with</a:t>
            </a:r>
            <a:endParaRPr lang="en-GB" sz="900" dirty="0">
              <a:solidFill>
                <a:schemeClr val="tx2"/>
              </a:solidFill>
            </a:endParaRPr>
          </a:p>
        </p:txBody>
      </p:sp>
      <p:pic>
        <p:nvPicPr>
          <p:cNvPr id="15" name="Picture 14" descr="CRUK_Pos_RGB_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450" y="334323"/>
            <a:ext cx="1298448" cy="502920"/>
          </a:xfrm>
          <a:prstGeom prst="rect">
            <a:avLst/>
          </a:prstGeom>
        </p:spPr>
      </p:pic>
      <p:pic>
        <p:nvPicPr>
          <p:cNvPr id="16" name="Picture 15" descr="The Royal Marsden logo_RGB_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483" y="386487"/>
            <a:ext cx="1683106" cy="283312"/>
          </a:xfrm>
          <a:prstGeom prst="rect">
            <a:avLst/>
          </a:prstGeom>
        </p:spPr>
      </p:pic>
      <p:pic>
        <p:nvPicPr>
          <p:cNvPr id="13" name="Picture 12" descr="IC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391249"/>
            <a:ext cx="1947672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9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artner logos and Mission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26" y="1289672"/>
            <a:ext cx="8778562" cy="329156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80000"/>
              </a:lnSpc>
              <a:defRPr sz="61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Rounded Rectangle 6"/>
          <p:cNvSpPr/>
          <p:nvPr/>
        </p:nvSpPr>
        <p:spPr>
          <a:xfrm>
            <a:off x="250825" y="4629151"/>
            <a:ext cx="8640764" cy="257175"/>
          </a:xfrm>
          <a:prstGeom prst="roundRect">
            <a:avLst>
              <a:gd name="adj" fmla="val 926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9144000" cy="6875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28625" y="4615200"/>
            <a:ext cx="8662964" cy="27699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Making the discoveries that defeat cancer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83525" y="126668"/>
            <a:ext cx="1120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solidFill>
                  <a:schemeClr val="tx2"/>
                </a:solidFill>
              </a:rPr>
              <a:t>in partnership</a:t>
            </a:r>
            <a:r>
              <a:rPr lang="en-GB" sz="900" baseline="0" dirty="0">
                <a:solidFill>
                  <a:schemeClr val="tx2"/>
                </a:solidFill>
              </a:rPr>
              <a:t> with</a:t>
            </a:r>
            <a:endParaRPr lang="en-GB" sz="900" dirty="0">
              <a:solidFill>
                <a:schemeClr val="tx2"/>
              </a:solidFill>
            </a:endParaRPr>
          </a:p>
        </p:txBody>
      </p:sp>
      <p:pic>
        <p:nvPicPr>
          <p:cNvPr id="15" name="Picture 14" descr="CRUK_Pos_RGB_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450" y="334323"/>
            <a:ext cx="1298448" cy="502920"/>
          </a:xfrm>
          <a:prstGeom prst="rect">
            <a:avLst/>
          </a:prstGeom>
        </p:spPr>
      </p:pic>
      <p:pic>
        <p:nvPicPr>
          <p:cNvPr id="16" name="Picture 15" descr="The Royal Marsden logo_RGB_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483" y="386487"/>
            <a:ext cx="1683106" cy="283312"/>
          </a:xfrm>
          <a:prstGeom prst="rect">
            <a:avLst/>
          </a:prstGeom>
        </p:spPr>
      </p:pic>
      <p:pic>
        <p:nvPicPr>
          <p:cNvPr id="10" name="Picture 9" descr="IC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391249"/>
            <a:ext cx="1947672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3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/Partners/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50825" y="4629151"/>
            <a:ext cx="8640764" cy="257175"/>
          </a:xfrm>
          <a:prstGeom prst="roundRect">
            <a:avLst>
              <a:gd name="adj" fmla="val 926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/>
        </p:nvSpPr>
        <p:spPr>
          <a:xfrm>
            <a:off x="0" y="2"/>
            <a:ext cx="9144000" cy="6875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155837" y="1123679"/>
            <a:ext cx="8853219" cy="3332339"/>
          </a:xfrm>
        </p:spPr>
        <p:txBody>
          <a:bodyPr anchor="b" anchorCtr="0"/>
          <a:lstStyle>
            <a:lvl1pPr>
              <a:lnSpc>
                <a:spcPct val="80000"/>
              </a:lnSpc>
              <a:defRPr sz="2600">
                <a:solidFill>
                  <a:srgbClr val="616365"/>
                </a:solidFill>
              </a:defRPr>
            </a:lvl1pPr>
            <a:lvl2pPr marL="0" indent="0">
              <a:lnSpc>
                <a:spcPct val="90000"/>
              </a:lnSpc>
              <a:spcBef>
                <a:spcPts val="1900"/>
              </a:spcBef>
              <a:buNone/>
              <a:defRPr>
                <a:solidFill>
                  <a:srgbClr val="616365"/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rgbClr val="A0A1A3"/>
                </a:solidFill>
              </a:defRPr>
            </a:lvl3pPr>
            <a:lvl4pPr marL="0" indent="0">
              <a:lnSpc>
                <a:spcPct val="90000"/>
              </a:lnSpc>
              <a:spcBef>
                <a:spcPts val="1300"/>
              </a:spcBef>
              <a:buNone/>
              <a:defRPr sz="1200">
                <a:solidFill>
                  <a:srgbClr val="616365"/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rgbClr val="A0A1A3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28625" y="4615200"/>
            <a:ext cx="8662964" cy="27699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Making the discoveries that defeat cancer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83525" y="126668"/>
            <a:ext cx="1120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solidFill>
                  <a:schemeClr val="tx2"/>
                </a:solidFill>
              </a:rPr>
              <a:t>in partnership</a:t>
            </a:r>
            <a:r>
              <a:rPr lang="en-GB" sz="900" baseline="0" dirty="0">
                <a:solidFill>
                  <a:schemeClr val="tx2"/>
                </a:solidFill>
              </a:rPr>
              <a:t> with</a:t>
            </a:r>
            <a:endParaRPr lang="en-GB" sz="900" dirty="0">
              <a:solidFill>
                <a:schemeClr val="tx2"/>
              </a:solidFill>
            </a:endParaRPr>
          </a:p>
        </p:txBody>
      </p:sp>
      <p:pic>
        <p:nvPicPr>
          <p:cNvPr id="16" name="Picture 15" descr="CRUK_Pos_RGB_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450" y="334323"/>
            <a:ext cx="1298448" cy="502920"/>
          </a:xfrm>
          <a:prstGeom prst="rect">
            <a:avLst/>
          </a:prstGeom>
        </p:spPr>
      </p:pic>
      <p:pic>
        <p:nvPicPr>
          <p:cNvPr id="17" name="Picture 16" descr="The Royal Marsden logo_RGB_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483" y="386487"/>
            <a:ext cx="1683106" cy="283312"/>
          </a:xfrm>
          <a:prstGeom prst="rect">
            <a:avLst/>
          </a:prstGeom>
        </p:spPr>
      </p:pic>
      <p:pic>
        <p:nvPicPr>
          <p:cNvPr id="10" name="Picture 9" descr="IC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391249"/>
            <a:ext cx="1947672" cy="3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thor with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50825" y="4629150"/>
            <a:ext cx="8640764" cy="945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2" name="Rectangle 11"/>
          <p:cNvSpPr/>
          <p:nvPr/>
        </p:nvSpPr>
        <p:spPr>
          <a:xfrm>
            <a:off x="0" y="2"/>
            <a:ext cx="9144000" cy="6875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11" name="Picture 10" descr="ICR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391249"/>
            <a:ext cx="1947672" cy="377190"/>
          </a:xfrm>
          <a:prstGeom prst="rect">
            <a:avLst/>
          </a:prstGeom>
        </p:spPr>
      </p:pic>
      <p:sp>
        <p:nvSpPr>
          <p:cNvPr id="16" name="Text Placeholder 15"/>
          <p:cNvSpPr>
            <a:spLocks noGrp="1"/>
          </p:cNvSpPr>
          <p:nvPr>
            <p:ph type="body" sz="quarter" idx="10"/>
          </p:nvPr>
        </p:nvSpPr>
        <p:spPr>
          <a:xfrm>
            <a:off x="149227" y="1193401"/>
            <a:ext cx="8859829" cy="3411927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FontTx/>
              <a:buNone/>
              <a:defRPr sz="1500">
                <a:solidFill>
                  <a:srgbClr val="616365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500">
                <a:solidFill>
                  <a:srgbClr val="A0A1A3"/>
                </a:solidFill>
              </a:defRPr>
            </a:lvl2pPr>
            <a:lvl3pPr marL="0" indent="0">
              <a:buFontTx/>
              <a:buNone/>
              <a:defRPr sz="16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 sz="1600">
                <a:solidFill>
                  <a:schemeClr val="tx2"/>
                </a:solidFill>
              </a:defRPr>
            </a:lvl4pPr>
            <a:lvl5pPr marL="0" indent="0">
              <a:buFontTx/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3525" y="126668"/>
            <a:ext cx="1120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solidFill>
                  <a:schemeClr val="tx2"/>
                </a:solidFill>
              </a:rPr>
              <a:t>in partnership</a:t>
            </a:r>
            <a:r>
              <a:rPr lang="en-GB" sz="900" baseline="0" dirty="0">
                <a:solidFill>
                  <a:schemeClr val="tx2"/>
                </a:solidFill>
              </a:rPr>
              <a:t> with</a:t>
            </a:r>
            <a:endParaRPr lang="en-GB" sz="900" dirty="0">
              <a:solidFill>
                <a:schemeClr val="tx2"/>
              </a:solidFill>
            </a:endParaRPr>
          </a:p>
        </p:txBody>
      </p:sp>
      <p:pic>
        <p:nvPicPr>
          <p:cNvPr id="13" name="Picture 12" descr="CRUK_Pos_RGB_1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450" y="334323"/>
            <a:ext cx="1298448" cy="502920"/>
          </a:xfrm>
          <a:prstGeom prst="rect">
            <a:avLst/>
          </a:prstGeom>
        </p:spPr>
      </p:pic>
      <p:pic>
        <p:nvPicPr>
          <p:cNvPr id="17" name="Picture 16" descr="The Royal Marsden logo_RGB_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8483" y="386487"/>
            <a:ext cx="1683106" cy="28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66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9950" y="297788"/>
            <a:ext cx="7455788" cy="122378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FontTx/>
              <a:buNone/>
              <a:defRPr sz="2600"/>
            </a:lvl1pPr>
            <a:lvl2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2600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marL="0" indent="0">
              <a:lnSpc>
                <a:spcPct val="85000"/>
              </a:lnSpc>
              <a:buFontTx/>
              <a:buNone/>
              <a:defRPr sz="3400"/>
            </a:lvl3pPr>
            <a:lvl4pPr marL="0" indent="0">
              <a:lnSpc>
                <a:spcPct val="85000"/>
              </a:lnSpc>
              <a:buFontTx/>
              <a:buNone/>
              <a:defRPr sz="3400"/>
            </a:lvl4pPr>
            <a:lvl5pPr marL="0" indent="0">
              <a:lnSpc>
                <a:spcPct val="85000"/>
              </a:lnSpc>
              <a:buFontTx/>
              <a:buNone/>
              <a:defRPr sz="3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70" y="1600677"/>
            <a:ext cx="7442468" cy="3549984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50825" y="1512094"/>
            <a:ext cx="7345364" cy="945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10576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ission stat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54" y="1634458"/>
            <a:ext cx="5373624" cy="2852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10421"/>
            <a:ext cx="7824076" cy="9391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ICR logo_Title sl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48" y="363738"/>
            <a:ext cx="3321558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5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ition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7824076" cy="9391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3 stat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329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8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1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/>
          <p:cNvSpPr>
            <a:spLocks noGrp="1"/>
          </p:cNvSpPr>
          <p:nvPr>
            <p:ph type="pic" sz="quarter" idx="14"/>
          </p:nvPr>
        </p:nvSpPr>
        <p:spPr>
          <a:xfrm>
            <a:off x="2846389" y="1179131"/>
            <a:ext cx="6048000" cy="3753364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1200" y="298761"/>
            <a:ext cx="7455788" cy="869898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FontTx/>
              <a:buNone/>
              <a:defRPr sz="2600"/>
            </a:lvl1pPr>
            <a:lvl2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2600">
                <a:solidFill>
                  <a:srgbClr val="A0A1A3"/>
                </a:solidFill>
              </a:defRPr>
            </a:lvl2pPr>
            <a:lvl3pPr marL="0" indent="0">
              <a:lnSpc>
                <a:spcPct val="85000"/>
              </a:lnSpc>
              <a:buFontTx/>
              <a:buNone/>
              <a:defRPr sz="3400"/>
            </a:lvl3pPr>
            <a:lvl4pPr marL="0" indent="0">
              <a:lnSpc>
                <a:spcPct val="85000"/>
              </a:lnSpc>
              <a:buFontTx/>
              <a:buNone/>
              <a:defRPr sz="3400"/>
            </a:lvl4pPr>
            <a:lvl5pPr marL="0" indent="0">
              <a:lnSpc>
                <a:spcPct val="85000"/>
              </a:lnSpc>
              <a:buFontTx/>
              <a:buNone/>
              <a:defRPr sz="3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50827" y="1179131"/>
            <a:ext cx="2163763" cy="945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162002" y="1268061"/>
            <a:ext cx="2340729" cy="3882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289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2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/>
          <p:cNvSpPr>
            <a:spLocks noGrp="1"/>
          </p:cNvSpPr>
          <p:nvPr>
            <p:ph type="pic" sz="quarter" idx="14"/>
          </p:nvPr>
        </p:nvSpPr>
        <p:spPr>
          <a:xfrm>
            <a:off x="4572001" y="1179131"/>
            <a:ext cx="4319588" cy="3753364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1200" y="298761"/>
            <a:ext cx="7455788" cy="869898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FontTx/>
              <a:buNone/>
              <a:defRPr sz="2600"/>
            </a:lvl1pPr>
            <a:lvl2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2600">
                <a:solidFill>
                  <a:srgbClr val="A0A1A3"/>
                </a:solidFill>
              </a:defRPr>
            </a:lvl2pPr>
            <a:lvl3pPr marL="0" indent="0">
              <a:lnSpc>
                <a:spcPct val="85000"/>
              </a:lnSpc>
              <a:buFontTx/>
              <a:buNone/>
              <a:defRPr sz="3400"/>
            </a:lvl3pPr>
            <a:lvl4pPr marL="0" indent="0">
              <a:lnSpc>
                <a:spcPct val="85000"/>
              </a:lnSpc>
              <a:buFontTx/>
              <a:buNone/>
              <a:defRPr sz="3400"/>
            </a:lvl4pPr>
            <a:lvl5pPr marL="0" indent="0">
              <a:lnSpc>
                <a:spcPct val="85000"/>
              </a:lnSpc>
              <a:buFontTx/>
              <a:buNone/>
              <a:defRPr sz="3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50827" y="1179131"/>
            <a:ext cx="3889375" cy="945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159041" y="1268061"/>
            <a:ext cx="4077141" cy="3882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3539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/>
          <p:cNvSpPr>
            <a:spLocks noGrp="1"/>
          </p:cNvSpPr>
          <p:nvPr>
            <p:ph type="pic" sz="quarter" idx="14"/>
          </p:nvPr>
        </p:nvSpPr>
        <p:spPr>
          <a:xfrm>
            <a:off x="250825" y="1179131"/>
            <a:ext cx="8640000" cy="3753364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1200" y="298761"/>
            <a:ext cx="7455788" cy="869898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FontTx/>
              <a:buNone/>
              <a:defRPr sz="2600"/>
            </a:lvl1pPr>
            <a:lvl2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2600">
                <a:solidFill>
                  <a:srgbClr val="A0A1A3"/>
                </a:solidFill>
              </a:defRPr>
            </a:lvl2pPr>
            <a:lvl3pPr marL="0" indent="0">
              <a:lnSpc>
                <a:spcPct val="85000"/>
              </a:lnSpc>
              <a:buFontTx/>
              <a:buNone/>
              <a:defRPr sz="3400"/>
            </a:lvl3pPr>
            <a:lvl4pPr marL="0" indent="0">
              <a:lnSpc>
                <a:spcPct val="85000"/>
              </a:lnSpc>
              <a:buFontTx/>
              <a:buNone/>
              <a:defRPr sz="3400"/>
            </a:lvl4pPr>
            <a:lvl5pPr marL="0" indent="0">
              <a:lnSpc>
                <a:spcPct val="85000"/>
              </a:lnSpc>
              <a:buFontTx/>
              <a:buNone/>
              <a:defRPr sz="3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9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1 Image with caption: Dark b/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/>
          <p:cNvSpPr>
            <a:spLocks noGrp="1"/>
          </p:cNvSpPr>
          <p:nvPr>
            <p:ph type="pic" sz="quarter" idx="14"/>
          </p:nvPr>
        </p:nvSpPr>
        <p:spPr>
          <a:xfrm>
            <a:off x="2846389" y="1179131"/>
            <a:ext cx="6048000" cy="3753364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1200" y="298761"/>
            <a:ext cx="7455788" cy="869898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FontTx/>
              <a:buNone/>
              <a:defRPr sz="2600">
                <a:solidFill>
                  <a:schemeClr val="bg1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2600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marL="0" indent="0">
              <a:lnSpc>
                <a:spcPct val="85000"/>
              </a:lnSpc>
              <a:buFontTx/>
              <a:buNone/>
              <a:defRPr sz="3400"/>
            </a:lvl3pPr>
            <a:lvl4pPr marL="0" indent="0">
              <a:lnSpc>
                <a:spcPct val="85000"/>
              </a:lnSpc>
              <a:buFontTx/>
              <a:buNone/>
              <a:defRPr sz="3400"/>
            </a:lvl4pPr>
            <a:lvl5pPr marL="0" indent="0">
              <a:lnSpc>
                <a:spcPct val="85000"/>
              </a:lnSpc>
              <a:buFontTx/>
              <a:buNone/>
              <a:defRPr sz="3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50827" y="1179131"/>
            <a:ext cx="2163763" cy="945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162002" y="1268061"/>
            <a:ext cx="2340729" cy="3882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4813" y="189000"/>
            <a:ext cx="866775" cy="945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575507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2 Image with caption: Dark b/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/>
          <p:cNvSpPr>
            <a:spLocks noGrp="1"/>
          </p:cNvSpPr>
          <p:nvPr>
            <p:ph type="pic" sz="quarter" idx="14"/>
          </p:nvPr>
        </p:nvSpPr>
        <p:spPr>
          <a:xfrm>
            <a:off x="4572002" y="1179131"/>
            <a:ext cx="4319587" cy="3753364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1200" y="298761"/>
            <a:ext cx="7455788" cy="869898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FontTx/>
              <a:buNone/>
              <a:defRPr sz="2600">
                <a:solidFill>
                  <a:schemeClr val="bg1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2600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marL="0" indent="0">
              <a:lnSpc>
                <a:spcPct val="85000"/>
              </a:lnSpc>
              <a:buFontTx/>
              <a:buNone/>
              <a:defRPr sz="3400"/>
            </a:lvl3pPr>
            <a:lvl4pPr marL="0" indent="0">
              <a:lnSpc>
                <a:spcPct val="85000"/>
              </a:lnSpc>
              <a:buFontTx/>
              <a:buNone/>
              <a:defRPr sz="3400"/>
            </a:lvl4pPr>
            <a:lvl5pPr marL="0" indent="0">
              <a:lnSpc>
                <a:spcPct val="85000"/>
              </a:lnSpc>
              <a:buFontTx/>
              <a:buNone/>
              <a:defRPr sz="3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50826" y="1179131"/>
            <a:ext cx="3889374" cy="945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159042" y="1268061"/>
            <a:ext cx="4077140" cy="3882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4813" y="189000"/>
            <a:ext cx="866775" cy="945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2565353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: Dark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/>
          <p:cNvSpPr>
            <a:spLocks noGrp="1"/>
          </p:cNvSpPr>
          <p:nvPr>
            <p:ph type="pic" sz="quarter" idx="14"/>
          </p:nvPr>
        </p:nvSpPr>
        <p:spPr>
          <a:xfrm>
            <a:off x="250825" y="1179131"/>
            <a:ext cx="8640000" cy="3753364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1200" y="298761"/>
            <a:ext cx="7455788" cy="869898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FontTx/>
              <a:buNone/>
              <a:defRPr sz="2600">
                <a:solidFill>
                  <a:schemeClr val="bg1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2600">
                <a:solidFill>
                  <a:srgbClr val="A0A1A3"/>
                </a:solidFill>
              </a:defRPr>
            </a:lvl2pPr>
            <a:lvl3pPr marL="0" indent="0">
              <a:lnSpc>
                <a:spcPct val="85000"/>
              </a:lnSpc>
              <a:buFontTx/>
              <a:buNone/>
              <a:defRPr sz="3400"/>
            </a:lvl3pPr>
            <a:lvl4pPr marL="0" indent="0">
              <a:lnSpc>
                <a:spcPct val="85000"/>
              </a:lnSpc>
              <a:buFontTx/>
              <a:buNone/>
              <a:defRPr sz="3400"/>
            </a:lvl4pPr>
            <a:lvl5pPr marL="0" indent="0">
              <a:lnSpc>
                <a:spcPct val="85000"/>
              </a:lnSpc>
              <a:buFontTx/>
              <a:buNone/>
              <a:defRPr sz="3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024813" y="189000"/>
            <a:ext cx="866775" cy="945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072746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1200" y="298762"/>
            <a:ext cx="7455788" cy="955075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FontTx/>
              <a:buNone/>
              <a:defRPr sz="2600"/>
            </a:lvl1pPr>
            <a:lvl2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2600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marL="0" indent="0">
              <a:lnSpc>
                <a:spcPct val="85000"/>
              </a:lnSpc>
              <a:buFontTx/>
              <a:buNone/>
              <a:defRPr sz="3400"/>
            </a:lvl3pPr>
            <a:lvl4pPr marL="0" indent="0">
              <a:lnSpc>
                <a:spcPct val="85000"/>
              </a:lnSpc>
              <a:buFontTx/>
              <a:buNone/>
              <a:defRPr sz="3400"/>
            </a:lvl4pPr>
            <a:lvl5pPr marL="0" indent="0">
              <a:lnSpc>
                <a:spcPct val="85000"/>
              </a:lnSpc>
              <a:buFontTx/>
              <a:buNone/>
              <a:defRPr sz="3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97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knowledg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"/>
            <a:ext cx="9144000" cy="6875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9" name="TextBox 8"/>
          <p:cNvSpPr txBox="1"/>
          <p:nvPr/>
        </p:nvSpPr>
        <p:spPr>
          <a:xfrm>
            <a:off x="7883525" y="126668"/>
            <a:ext cx="1120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solidFill>
                  <a:schemeClr val="tx2"/>
                </a:solidFill>
              </a:rPr>
              <a:t>in partnership</a:t>
            </a:r>
            <a:r>
              <a:rPr lang="en-GB" sz="900" baseline="0" dirty="0">
                <a:solidFill>
                  <a:schemeClr val="tx2"/>
                </a:solidFill>
              </a:rPr>
              <a:t> with</a:t>
            </a:r>
            <a:endParaRPr lang="en-GB" sz="900" dirty="0">
              <a:solidFill>
                <a:schemeClr val="tx2"/>
              </a:solidFill>
            </a:endParaRPr>
          </a:p>
        </p:txBody>
      </p:sp>
      <p:pic>
        <p:nvPicPr>
          <p:cNvPr id="10" name="Picture 9" descr="CRUK_Pos_RGB_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450" y="334323"/>
            <a:ext cx="1298448" cy="502920"/>
          </a:xfrm>
          <a:prstGeom prst="rect">
            <a:avLst/>
          </a:prstGeom>
        </p:spPr>
      </p:pic>
      <p:pic>
        <p:nvPicPr>
          <p:cNvPr id="11" name="Picture 10" descr="The Royal Marsden logo_RGB_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483" y="386487"/>
            <a:ext cx="1683106" cy="283312"/>
          </a:xfrm>
          <a:prstGeom prst="rect">
            <a:avLst/>
          </a:prstGeom>
        </p:spPr>
      </p:pic>
      <p:pic>
        <p:nvPicPr>
          <p:cNvPr id="13" name="Picture 12" descr="IC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391249"/>
            <a:ext cx="1947672" cy="37719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50825" y="4629150"/>
            <a:ext cx="8640764" cy="945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162000" y="1230949"/>
            <a:ext cx="2880000" cy="3361089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defRPr sz="120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0"/>
          </p:nvPr>
        </p:nvSpPr>
        <p:spPr>
          <a:xfrm>
            <a:off x="6121079" y="1230949"/>
            <a:ext cx="2880000" cy="3361089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defRPr sz="120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1"/>
          </p:nvPr>
        </p:nvSpPr>
        <p:spPr>
          <a:xfrm>
            <a:off x="3141540" y="1230949"/>
            <a:ext cx="2880000" cy="3361089"/>
          </a:xfrm>
        </p:spPr>
        <p:txBody>
          <a:bodyPr anchor="b" anchorCtr="0">
            <a:normAutofit/>
          </a:bodyPr>
          <a:lstStyle>
            <a:lvl1pPr marL="0" indent="0">
              <a:spcBef>
                <a:spcPts val="0"/>
              </a:spcBef>
              <a:defRPr sz="120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6151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9144000" cy="6875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5" name="Picture 4" descr="ICR logo_12c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69" y="1428750"/>
            <a:ext cx="3239262" cy="197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68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"/>
            <a:ext cx="9144000" cy="6875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6" name="Picture 5" descr="End photo 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10" y="184070"/>
            <a:ext cx="6470782" cy="477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71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17E1-4620-9DDD-FA96-9E5B70073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219B-9A40-0895-241D-AD34D4B53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168C1-C13F-6ED9-249D-C744EE87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DAE95-D609-B54E-BF85-6E33854280B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AE87F-6E73-0627-87AD-8B335E79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CB8F0-8E54-5589-A19B-6461289A5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FA060-980B-CF40-A86C-7229FC9C7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46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793F25-8AC3-4033-9F02-C3630B52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AB93A-D77E-4932-834B-EDFE3DE7B085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D6C4D-8B4B-46ED-B3D5-E9363125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93A12-FFE9-4FA5-A89C-5578E080F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4CD4-27CD-416C-B0F7-AB63AFFB8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4592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3" y="144000"/>
            <a:ext cx="8765651" cy="5040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ct val="100000"/>
              </a:lnSpc>
              <a:defRPr sz="2400" b="1" baseline="0">
                <a:solidFill>
                  <a:srgbClr val="83005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8375" y="4846754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37600" y="1234440"/>
            <a:ext cx="7056000" cy="1618488"/>
          </a:xfrm>
          <a:prstGeom prst="rect">
            <a:avLst/>
          </a:prstGeom>
        </p:spPr>
        <p:txBody>
          <a:bodyPr/>
          <a:lstStyle>
            <a:lvl1pPr marL="179996" indent="-179996">
              <a:lnSpc>
                <a:spcPct val="100000"/>
              </a:lnSpc>
              <a:spcBef>
                <a:spcPts val="0"/>
              </a:spcBef>
              <a:buClr>
                <a:srgbClr val="830051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39987" indent="-179996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784" indent="-179996">
              <a:defRPr sz="1400">
                <a:latin typeface="Arial" pitchFamily="34" charset="0"/>
                <a:cs typeface="Arial" pitchFamily="34" charset="0"/>
              </a:defRPr>
            </a:lvl4pPr>
            <a:lvl5pPr marL="622784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1"/>
            <a:r>
              <a:rPr lang="en-GB" noProof="0" dirty="0"/>
              <a:t>Third level</a:t>
            </a:r>
          </a:p>
          <a:p>
            <a:pPr lvl="1"/>
            <a:r>
              <a:rPr lang="en-GB" noProof="0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434891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5F82-C8AF-D132-E1C1-307384B9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2382D-1CA1-4312-17D9-5D08274D3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E48D-B82D-4102-B633-C6BE041149E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1E0AE-3056-8B88-693D-7A9CC167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E2B0F-53F3-89C4-E3C7-9DE84094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941F-67C7-4CFD-8FE7-A55812E52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993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78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270" y="1600678"/>
            <a:ext cx="7442468" cy="1722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24815" y="282968"/>
            <a:ext cx="968375" cy="243289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C11EC036-9995-D94B-92E6-D4CB3E17539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50825" y="189000"/>
            <a:ext cx="7345364" cy="9450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Rounded Rectangle 9"/>
          <p:cNvSpPr/>
          <p:nvPr/>
        </p:nvSpPr>
        <p:spPr>
          <a:xfrm>
            <a:off x="8024813" y="189000"/>
            <a:ext cx="866775" cy="945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151046" y="298761"/>
            <a:ext cx="7454693" cy="83486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909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</p:sldLayoutIdLst>
  <p:txStyles>
    <p:titleStyle>
      <a:lvl1pPr algn="l" defTabSz="457189" rtl="0" eaLnBrk="1" latinLnBrk="0" hangingPunct="1">
        <a:lnSpc>
          <a:spcPct val="85000"/>
        </a:lnSpc>
        <a:spcBef>
          <a:spcPct val="0"/>
        </a:spcBef>
        <a:buNone/>
        <a:defRPr sz="2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189" rtl="0" eaLnBrk="1" latinLnBrk="0" hangingPunct="1">
        <a:spcBef>
          <a:spcPts val="500"/>
        </a:spcBef>
        <a:buFontTx/>
        <a:buNone/>
        <a:defRPr sz="1500" kern="1200">
          <a:solidFill>
            <a:schemeClr val="tx2"/>
          </a:solidFill>
          <a:latin typeface="+mn-lt"/>
          <a:ea typeface="+mn-ea"/>
          <a:cs typeface="+mn-cs"/>
        </a:defRPr>
      </a:lvl1pPr>
      <a:lvl2pPr marL="179996" indent="-179996" algn="l" defTabSz="457189" rtl="0" eaLnBrk="1" latinLnBrk="0" hangingPunct="1">
        <a:spcBef>
          <a:spcPts val="500"/>
        </a:spcBef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2pPr>
      <a:lvl3pPr marL="179996" indent="-179996" algn="l" defTabSz="457189" rtl="0" eaLnBrk="1" latinLnBrk="0" hangingPunct="1">
        <a:spcBef>
          <a:spcPts val="500"/>
        </a:spcBef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79996" indent="-179996" algn="l" defTabSz="457189" rtl="0" eaLnBrk="1" latinLnBrk="0" hangingPunct="1">
        <a:spcBef>
          <a:spcPts val="500"/>
        </a:spcBef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179996" indent="-179996" algn="l" defTabSz="457189" rtl="0" eaLnBrk="1" latinLnBrk="0" hangingPunct="1">
        <a:spcBef>
          <a:spcPts val="500"/>
        </a:spcBef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Precision_and_recall" TargetMode="Externa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gratedPathologyUnit-ICR/bioml_datascience/blob/main/bioml_notebook_linear_algebra_example_pca.ipynb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487DD4D-B363-0F94-FEDC-9FD6BB5B1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10" y="1289448"/>
            <a:ext cx="8778478" cy="3292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rmAutofit/>
          </a:bodyPr>
          <a:lstStyle/>
          <a:p>
            <a:pPr algn="ctr">
              <a:lnSpc>
                <a:spcPts val="3375"/>
              </a:lnSpc>
              <a:spcAft>
                <a:spcPts val="1125"/>
              </a:spcAft>
            </a:pPr>
            <a:r>
              <a:rPr lang="en-US" sz="3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Foundations</a:t>
            </a:r>
            <a:endParaRPr lang="en-US" sz="3375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29751F3-ABED-1925-13BC-46944523CD64}"/>
              </a:ext>
            </a:extLst>
          </p:cNvPr>
          <p:cNvSpPr/>
          <p:nvPr/>
        </p:nvSpPr>
        <p:spPr>
          <a:xfrm>
            <a:off x="1591037" y="1551298"/>
            <a:ext cx="551415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85800">
              <a:lnSpc>
                <a:spcPts val="3375"/>
              </a:lnSpc>
              <a:spcAft>
                <a:spcPts val="1125"/>
              </a:spcAft>
            </a:pPr>
            <a:r>
              <a:rPr lang="en-GB" sz="3375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Machine learning – From </a:t>
            </a:r>
            <a:r>
              <a:rPr lang="en-US" sz="3375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Foundations</a:t>
            </a:r>
          </a:p>
          <a:p>
            <a:pPr algn="ctr" defTabSz="685800">
              <a:lnSpc>
                <a:spcPts val="3375"/>
              </a:lnSpc>
              <a:spcAft>
                <a:spcPts val="1125"/>
              </a:spcAft>
            </a:pPr>
            <a:endParaRPr lang="en-US" sz="3375" dirty="0">
              <a:solidFill>
                <a:srgbClr val="002060"/>
              </a:solidFill>
              <a:latin typeface="Arial"/>
            </a:endParaRPr>
          </a:p>
          <a:p>
            <a:pPr algn="ctr" defTabSz="685800">
              <a:lnSpc>
                <a:spcPts val="3375"/>
              </a:lnSpc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  <a:latin typeface="Arial"/>
              </a:rPr>
              <a:t>Priya Lakshmi Narayanan PhD</a:t>
            </a:r>
          </a:p>
          <a:p>
            <a:pPr algn="ctr" defTabSz="685800">
              <a:lnSpc>
                <a:spcPts val="600"/>
              </a:lnSpc>
              <a:spcAft>
                <a:spcPts val="600"/>
              </a:spcAft>
            </a:pPr>
            <a:r>
              <a:rPr lang="en-US" sz="1200" dirty="0">
                <a:solidFill>
                  <a:srgbClr val="002060"/>
                </a:solidFill>
                <a:latin typeface="Arial"/>
              </a:rPr>
              <a:t>Integrated Pathology Unit</a:t>
            </a:r>
          </a:p>
          <a:p>
            <a:pPr algn="ctr" defTabSz="685800">
              <a:lnSpc>
                <a:spcPts val="600"/>
              </a:lnSpc>
              <a:spcAft>
                <a:spcPts val="600"/>
              </a:spcAft>
            </a:pPr>
            <a:r>
              <a:rPr lang="en-US" sz="1200" dirty="0">
                <a:solidFill>
                  <a:srgbClr val="002060"/>
                </a:solidFill>
                <a:latin typeface="Arial"/>
              </a:rPr>
              <a:t>Department of Cancer Biology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C2AF831-A4F8-CA84-755C-6A077A2CD10C}"/>
              </a:ext>
            </a:extLst>
          </p:cNvPr>
          <p:cNvSpPr/>
          <p:nvPr/>
        </p:nvSpPr>
        <p:spPr>
          <a:xfrm>
            <a:off x="2017316" y="2478287"/>
            <a:ext cx="45343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85800">
              <a:lnSpc>
                <a:spcPts val="3600"/>
              </a:lnSpc>
            </a:pPr>
            <a:r>
              <a:rPr lang="en-US" sz="2800" b="1" dirty="0">
                <a:solidFill>
                  <a:srgbClr val="EE7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Advanced </a:t>
            </a:r>
            <a:r>
              <a:rPr lang="en-US" sz="2800" b="1" dirty="0" err="1">
                <a:solidFill>
                  <a:srgbClr val="EE7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</a:t>
            </a:r>
            <a:endParaRPr lang="en-US" sz="2800" b="1" dirty="0">
              <a:solidFill>
                <a:srgbClr val="EE7EA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86A44AD-DE0B-8C66-FD3A-C481CA0D9FF8}"/>
              </a:ext>
            </a:extLst>
          </p:cNvPr>
          <p:cNvSpPr/>
          <p:nvPr/>
        </p:nvSpPr>
        <p:spPr>
          <a:xfrm>
            <a:off x="560207" y="4381501"/>
            <a:ext cx="78028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85800">
              <a:lnSpc>
                <a:spcPts val="1575"/>
              </a:lnSpc>
              <a:spcBef>
                <a:spcPts val="3375"/>
              </a:spcBef>
              <a:spcAft>
                <a:spcPts val="225"/>
              </a:spcAft>
            </a:pP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overview of the key mathematical concepts and its association in image and data analytics</a:t>
            </a:r>
            <a:endParaRPr lang="en-US" sz="1125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A78C5-0216-A5D4-8ED4-83F47A708539}"/>
              </a:ext>
            </a:extLst>
          </p:cNvPr>
          <p:cNvSpPr txBox="1"/>
          <p:nvPr/>
        </p:nvSpPr>
        <p:spPr>
          <a:xfrm>
            <a:off x="7815781" y="4905722"/>
            <a:ext cx="1094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06 Nov 2025</a:t>
            </a:r>
          </a:p>
        </p:txBody>
      </p:sp>
    </p:spTree>
    <p:extLst>
      <p:ext uri="{BB962C8B-B14F-4D97-AF65-F5344CB8AC3E}">
        <p14:creationId xmlns:p14="http://schemas.microsoft.com/office/powerpoint/2010/main" val="568853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FC570AC6-D98E-3DC3-6522-3E12B9CD3C2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2419" b="4562"/>
          <a:stretch>
            <a:fillRect/>
          </a:stretch>
        </p:blipFill>
        <p:spPr>
          <a:xfrm>
            <a:off x="4335781" y="914400"/>
            <a:ext cx="4319588" cy="4018095"/>
          </a:xfr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61AF7-996D-5812-116D-85D4FEE45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200" y="298761"/>
            <a:ext cx="7455788" cy="86989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ts val="3000"/>
              </a:lnSpc>
            </a:pPr>
            <a:r>
              <a:rPr lang="en-GB" sz="27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Presentation 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B30D9-CB93-AFAA-EBC8-541C9DE944B6}"/>
              </a:ext>
            </a:extLst>
          </p:cNvPr>
          <p:cNvSpPr txBox="1"/>
          <p:nvPr/>
        </p:nvSpPr>
        <p:spPr>
          <a:xfrm>
            <a:off x="159041" y="1268061"/>
            <a:ext cx="4077141" cy="388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defTabSz="457189"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GB" sz="1500" dirty="0">
                <a:solidFill>
                  <a:schemeClr val="tx2"/>
                </a:solidFill>
              </a:rPr>
              <a:t>Mathematical foundation and applications</a:t>
            </a:r>
          </a:p>
          <a:p>
            <a:pPr marL="285750" indent="-285750" defTabSz="457189"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GB" sz="1500" dirty="0">
                <a:solidFill>
                  <a:schemeClr val="tx2"/>
                </a:solidFill>
              </a:rPr>
              <a:t>Interactive </a:t>
            </a:r>
            <a:r>
              <a:rPr lang="en-GB" sz="1500" dirty="0" err="1">
                <a:solidFill>
                  <a:schemeClr val="tx2"/>
                </a:solidFill>
              </a:rPr>
              <a:t>colab</a:t>
            </a:r>
            <a:r>
              <a:rPr lang="en-GB" sz="1500" dirty="0">
                <a:solidFill>
                  <a:schemeClr val="tx2"/>
                </a:solidFill>
              </a:rPr>
              <a:t> by examples</a:t>
            </a:r>
          </a:p>
          <a:p>
            <a:pPr marL="285750" indent="-285750" defTabSz="457189"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GB" sz="1500" dirty="0">
                <a:solidFill>
                  <a:schemeClr val="tx2"/>
                </a:solidFill>
              </a:rPr>
              <a:t>Linear algebra in histology</a:t>
            </a:r>
          </a:p>
          <a:p>
            <a:pPr marL="285750" indent="-285750" defTabSz="457189"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GB" sz="1500" dirty="0">
                <a:solidFill>
                  <a:schemeClr val="tx2"/>
                </a:solidFill>
              </a:rPr>
              <a:t>Use case</a:t>
            </a:r>
          </a:p>
          <a:p>
            <a:pPr defTabSz="457189">
              <a:spcBef>
                <a:spcPts val="500"/>
              </a:spcBef>
            </a:pPr>
            <a:endParaRPr lang="en-GB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160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FF3DA12-D303-4757-0094-7F89D1C98C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813" y="298450"/>
            <a:ext cx="7456487" cy="86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Overview: Core Mathematical Pillars</a:t>
            </a:r>
            <a:endParaRPr lang="en-US" sz="2700" dirty="0">
              <a:solidFill>
                <a:schemeClr val="bg2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7A8B728-525F-FC2F-CDEF-F696909D9D9C}"/>
              </a:ext>
            </a:extLst>
          </p:cNvPr>
          <p:cNvSpPr/>
          <p:nvPr/>
        </p:nvSpPr>
        <p:spPr>
          <a:xfrm>
            <a:off x="94357" y="1011989"/>
            <a:ext cx="4840486" cy="17907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Algebra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Vectors, matrices, and transformations</a:t>
            </a:r>
            <a:endParaRPr lang="en-US" sz="1350" dirty="0"/>
          </a:p>
          <a:p>
            <a:pPr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Calculus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Derivatives, gradients, and optimization</a:t>
            </a:r>
            <a:endParaRPr lang="en-US" sz="1350" dirty="0"/>
          </a:p>
          <a:p>
            <a:pPr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Theory</a:t>
            </a:r>
            <a:r>
              <a:rPr lang="en-US" sz="13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Uncertainty and distributions</a:t>
            </a:r>
            <a:endParaRPr lang="en-US" sz="1350" dirty="0"/>
          </a:p>
          <a:p>
            <a:pPr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Estimation and inference</a:t>
            </a:r>
            <a:endParaRPr lang="en-US" sz="1350" dirty="0"/>
          </a:p>
          <a:p>
            <a:pPr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Finding optimal solutions</a:t>
            </a:r>
            <a:endParaRPr lang="en-US" sz="1350" dirty="0"/>
          </a:p>
          <a:p>
            <a:pPr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Theory</a:t>
            </a:r>
            <a:r>
              <a:rPr lang="en-US" sz="13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Measuring information and uncertainty</a:t>
            </a:r>
            <a:endParaRPr lang="en-US" sz="1350" dirty="0"/>
          </a:p>
        </p:txBody>
      </p:sp>
      <p:graphicFrame>
        <p:nvGraphicFramePr>
          <p:cNvPr id="6" name="Picture Placeholder 5">
            <a:extLst>
              <a:ext uri="{FF2B5EF4-FFF2-40B4-BE49-F238E27FC236}">
                <a16:creationId xmlns:a16="http://schemas.microsoft.com/office/drawing/2014/main" id="{61D3C8D7-7D0F-E126-C9CE-84DF4FF43393}"/>
              </a:ext>
            </a:extLst>
          </p:cNvPr>
          <p:cNvGraphicFramePr>
            <a:graphicFrameLocks noGrp="1"/>
          </p:cNvGraphicFramePr>
          <p:nvPr>
            <p:ph type="pic" sz="quarter" idx="14"/>
            <p:extLst>
              <p:ext uri="{D42A27DB-BD31-4B8C-83A1-F6EECF244321}">
                <p14:modId xmlns:p14="http://schemas.microsoft.com/office/powerpoint/2010/main" val="2126716842"/>
              </p:ext>
            </p:extLst>
          </p:nvPr>
        </p:nvGraphicFramePr>
        <p:xfrm>
          <a:off x="4572000" y="2207794"/>
          <a:ext cx="4840486" cy="2742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D3ED9D-4F87-81AC-FD36-F99D596CD802}"/>
              </a:ext>
            </a:extLst>
          </p:cNvPr>
          <p:cNvSpPr txBox="1"/>
          <p:nvPr/>
        </p:nvSpPr>
        <p:spPr>
          <a:xfrm>
            <a:off x="-44008" y="4897279"/>
            <a:ext cx="5837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https://colab.research.google.com/github/IntegratedPathologyUnit-ICR/bioml_datascience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08E7E-D269-CDD0-EFC6-50211D63A3F8}"/>
              </a:ext>
            </a:extLst>
          </p:cNvPr>
          <p:cNvSpPr txBox="1"/>
          <p:nvPr/>
        </p:nvSpPr>
        <p:spPr>
          <a:xfrm>
            <a:off x="150813" y="3235569"/>
            <a:ext cx="46603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Scalar is a single number (25°C), mass (5 kg), time (10 seconds), price (£50)</a:t>
            </a:r>
          </a:p>
          <a:p>
            <a:r>
              <a:rPr lang="en-GB" sz="1000" dirty="0"/>
              <a:t>Vector is an array of numbers Notation: </a:t>
            </a:r>
            <a:r>
              <a:rPr lang="en-GB" sz="1000" b="1" dirty="0"/>
              <a:t>v</a:t>
            </a:r>
            <a:r>
              <a:rPr lang="en-GB" sz="1000" dirty="0"/>
              <a:t> = [v₁, v₂, v₃]</a:t>
            </a:r>
          </a:p>
          <a:p>
            <a:r>
              <a:rPr lang="en-GB" sz="1000" dirty="0"/>
              <a:t>Matrix is a 2D array[[1 0 0] [0 0 -1] [0 1 0]]</a:t>
            </a:r>
          </a:p>
          <a:p>
            <a:endParaRPr lang="en-GB" sz="1000" dirty="0"/>
          </a:p>
          <a:p>
            <a:r>
              <a:rPr lang="en-GB" sz="1000" dirty="0"/>
              <a:t>Tensor is an n-dimensional array with n&gt;2</a:t>
            </a:r>
          </a:p>
          <a:p>
            <a:r>
              <a:rPr lang="en-GB" sz="1000" dirty="0"/>
              <a:t>[[[1, 2], [3, 2]], [[1, 7], [5, 4]]]</a:t>
            </a:r>
          </a:p>
        </p:txBody>
      </p:sp>
    </p:spTree>
    <p:extLst>
      <p:ext uri="{BB962C8B-B14F-4D97-AF65-F5344CB8AC3E}">
        <p14:creationId xmlns:p14="http://schemas.microsoft.com/office/powerpoint/2010/main" val="217098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Graphic spid="6" grpId="0">
        <p:bldAsOne/>
      </p:bldGraphic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F0C1BE-6D8A-2958-B811-8790D2DE7F25}"/>
              </a:ext>
            </a:extLst>
          </p:cNvPr>
          <p:cNvSpPr/>
          <p:nvPr/>
        </p:nvSpPr>
        <p:spPr>
          <a:xfrm>
            <a:off x="506974" y="381000"/>
            <a:ext cx="8130052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5000"/>
              </a:lnSpc>
              <a:spcBef>
                <a:spcPts val="500"/>
              </a:spcBef>
              <a:spcAft>
                <a:spcPts val="1800"/>
              </a:spcAft>
            </a:pPr>
            <a:r>
              <a:rPr lang="en-US" sz="24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Learning lifecycle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952335-81B3-5CF1-C4B1-A17C5E4EE908}"/>
              </a:ext>
            </a:extLst>
          </p:cNvPr>
          <p:cNvGrpSpPr/>
          <p:nvPr/>
        </p:nvGrpSpPr>
        <p:grpSpPr>
          <a:xfrm>
            <a:off x="407426" y="922139"/>
            <a:ext cx="8229600" cy="1678186"/>
            <a:chOff x="457200" y="1665982"/>
            <a:chExt cx="8229600" cy="1678186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30DD0282-260E-85DB-1289-49C2E885147B}"/>
                </a:ext>
              </a:extLst>
            </p:cNvPr>
            <p:cNvSpPr/>
            <p:nvPr/>
          </p:nvSpPr>
          <p:spPr>
            <a:xfrm>
              <a:off x="457200" y="1665982"/>
              <a:ext cx="8229600" cy="1678186"/>
            </a:xfrm>
            <a:prstGeom prst="roundRect">
              <a:avLst>
                <a:gd name="adj" fmla="val 5676"/>
              </a:avLst>
            </a:prstGeom>
            <a:solidFill>
              <a:srgbClr val="F0EFF4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27E3594D-5BB4-8684-8E78-E6A0CBE0AFA9}"/>
                </a:ext>
              </a:extLst>
            </p:cNvPr>
            <p:cNvSpPr/>
            <p:nvPr/>
          </p:nvSpPr>
          <p:spPr>
            <a:xfrm>
              <a:off x="742950" y="1951732"/>
              <a:ext cx="781126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spcAft>
                  <a:spcPts val="1125"/>
                </a:spcAft>
                <a:buNone/>
              </a:pPr>
              <a:r>
                <a:rPr lang="en-US" sz="2250" b="1" dirty="0">
                  <a:solidFill>
                    <a:srgbClr val="B165F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Learning Process</a:t>
              </a:r>
              <a:endParaRPr lang="en-US" sz="2250" dirty="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D6F25B34-8728-A05D-1F1E-B062E9ADDDDB}"/>
                </a:ext>
              </a:extLst>
            </p:cNvPr>
            <p:cNvSpPr/>
            <p:nvPr/>
          </p:nvSpPr>
          <p:spPr>
            <a:xfrm>
              <a:off x="742950" y="2437507"/>
              <a:ext cx="7811262" cy="5828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95"/>
                </a:lnSpc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135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 sz="135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92FE9D-FE81-BD91-31B9-3009855B4AE2}"/>
              </a:ext>
            </a:extLst>
          </p:cNvPr>
          <p:cNvGrpSpPr/>
          <p:nvPr/>
        </p:nvGrpSpPr>
        <p:grpSpPr>
          <a:xfrm>
            <a:off x="1219201" y="2933700"/>
            <a:ext cx="5814883" cy="1658175"/>
            <a:chOff x="1219201" y="3055949"/>
            <a:chExt cx="5814883" cy="165817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0C77D24-7603-F8BF-CE3A-42AFC508993A}"/>
                </a:ext>
              </a:extLst>
            </p:cNvPr>
            <p:cNvSpPr/>
            <p:nvPr/>
          </p:nvSpPr>
          <p:spPr>
            <a:xfrm>
              <a:off x="3000587" y="3137532"/>
              <a:ext cx="2248746" cy="691184"/>
            </a:xfrm>
            <a:prstGeom prst="roundRect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>
                  <a:lumMod val="10000"/>
                  <a:lumOff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6B995DF-05B8-8614-8001-5247F5316608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flipV="1">
              <a:off x="1219201" y="3483124"/>
              <a:ext cx="1781386" cy="133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EC87AA9-B288-8597-B56A-8D16E1205DCA}"/>
                </a:ext>
              </a:extLst>
            </p:cNvPr>
            <p:cNvCxnSpPr>
              <a:cxnSpLocks/>
            </p:cNvCxnSpPr>
            <p:nvPr/>
          </p:nvCxnSpPr>
          <p:spPr>
            <a:xfrm>
              <a:off x="5252697" y="3493136"/>
              <a:ext cx="178138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5202CD-1A51-2FDA-C896-7F65F07E4D33}"/>
                </a:ext>
              </a:extLst>
            </p:cNvPr>
            <p:cNvSpPr txBox="1"/>
            <p:nvPr/>
          </p:nvSpPr>
          <p:spPr>
            <a:xfrm>
              <a:off x="6265333" y="3076574"/>
              <a:ext cx="426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86C76C9-24C9-B9CE-C8FB-77FE181C8E7F}"/>
                </a:ext>
              </a:extLst>
            </p:cNvPr>
            <p:cNvSpPr txBox="1"/>
            <p:nvPr/>
          </p:nvSpPr>
          <p:spPr>
            <a:xfrm>
              <a:off x="1290319" y="3055949"/>
              <a:ext cx="426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X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2BE245-37AE-98D1-9DE9-A01D873ADD47}"/>
                </a:ext>
              </a:extLst>
            </p:cNvPr>
            <p:cNvSpPr txBox="1"/>
            <p:nvPr/>
          </p:nvSpPr>
          <p:spPr>
            <a:xfrm>
              <a:off x="3346024" y="3315118"/>
              <a:ext cx="16730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Learning function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50DBD9E-9CB6-F39A-61C5-19DAB86721A0}"/>
                </a:ext>
              </a:extLst>
            </p:cNvPr>
            <p:cNvCxnSpPr>
              <a:cxnSpLocks/>
            </p:cNvCxnSpPr>
            <p:nvPr/>
          </p:nvCxnSpPr>
          <p:spPr>
            <a:xfrm>
              <a:off x="6082453" y="3496520"/>
              <a:ext cx="0" cy="9712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C52F17A-A7C7-3D17-4A0F-9E65C1D13267}"/>
                </a:ext>
              </a:extLst>
            </p:cNvPr>
            <p:cNvSpPr/>
            <p:nvPr/>
          </p:nvSpPr>
          <p:spPr>
            <a:xfrm>
              <a:off x="3244427" y="4191332"/>
              <a:ext cx="1886394" cy="522792"/>
            </a:xfrm>
            <a:prstGeom prst="roundRect">
              <a:avLst/>
            </a:prstGeom>
            <a:solidFill>
              <a:schemeClr val="accent6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16543B0-D50D-5AC4-57B9-6E1E41CBD724}"/>
                </a:ext>
              </a:extLst>
            </p:cNvPr>
            <p:cNvCxnSpPr>
              <a:cxnSpLocks/>
              <a:endCxn id="20" idx="3"/>
            </p:cNvCxnSpPr>
            <p:nvPr/>
          </p:nvCxnSpPr>
          <p:spPr>
            <a:xfrm flipH="1" flipV="1">
              <a:off x="5130821" y="4452728"/>
              <a:ext cx="961813" cy="51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B90C7E8-35AD-6D03-B5F7-7CDBE46C8D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2433" y="4457910"/>
              <a:ext cx="971994" cy="98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D5659B2-409A-909D-0744-84D72609C1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2613" y="3496521"/>
              <a:ext cx="0" cy="9613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CD3AF2-8EDA-2BB4-5197-186B023800C9}"/>
                </a:ext>
              </a:extLst>
            </p:cNvPr>
            <p:cNvSpPr txBox="1"/>
            <p:nvPr/>
          </p:nvSpPr>
          <p:spPr>
            <a:xfrm>
              <a:off x="6319521" y="3627296"/>
              <a:ext cx="426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ý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1D8245F-D31D-9847-2E29-BD7F02D3B1C8}"/>
              </a:ext>
            </a:extLst>
          </p:cNvPr>
          <p:cNvSpPr txBox="1"/>
          <p:nvPr/>
        </p:nvSpPr>
        <p:spPr>
          <a:xfrm>
            <a:off x="6719146" y="3015880"/>
            <a:ext cx="15409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Ground truth (GT)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B869C3-D872-19C6-2445-45F044CDA9A8}"/>
              </a:ext>
            </a:extLst>
          </p:cNvPr>
          <p:cNvSpPr txBox="1"/>
          <p:nvPr/>
        </p:nvSpPr>
        <p:spPr>
          <a:xfrm>
            <a:off x="6746241" y="3556761"/>
            <a:ext cx="1364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Prediction (PR)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DD31B4-B96D-5F6C-2F18-D6E5579CF330}"/>
              </a:ext>
            </a:extLst>
          </p:cNvPr>
          <p:cNvSpPr txBox="1"/>
          <p:nvPr/>
        </p:nvSpPr>
        <p:spPr>
          <a:xfrm>
            <a:off x="3498424" y="4197316"/>
            <a:ext cx="1673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Loss function</a:t>
            </a: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5EC25F7E-7E32-90C9-774B-C2A67FD2F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77" y="1554182"/>
            <a:ext cx="5724644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 pass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Input features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 through our linear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Model outputs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 calculation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We compute the error between predictions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ground truth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ŷ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Backward pass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error signal propagates back to update model weights via gradient descent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cycle repeats until convergence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82EE4A-F864-5DE4-A8FA-E17C178575F7}"/>
              </a:ext>
            </a:extLst>
          </p:cNvPr>
          <p:cNvSpPr txBox="1"/>
          <p:nvPr/>
        </p:nvSpPr>
        <p:spPr>
          <a:xfrm>
            <a:off x="105830" y="4602997"/>
            <a:ext cx="78714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hlinkClick r:id="rId2"/>
              </a:rPr>
              <a:t>https://en.wikipedia.org/wiki/Precision_and_recall</a:t>
            </a:r>
            <a:endParaRPr lang="en-GB" sz="800" dirty="0"/>
          </a:p>
          <a:p>
            <a:r>
              <a:rPr lang="en-GB" sz="800" dirty="0"/>
              <a:t>Verma </a:t>
            </a:r>
            <a:r>
              <a:rPr lang="en-GB" sz="800" dirty="0" err="1"/>
              <a:t>R,et</a:t>
            </a:r>
            <a:r>
              <a:rPr lang="en-GB" sz="800" dirty="0"/>
              <a:t> al. MoNuSAC2020: A Multi-Organ Nuclei Segmentation and Classification Challenge. IEEE Transactions on Medical Imaging. 2021 Dec 1;40(12):3413-23.</a:t>
            </a:r>
          </a:p>
          <a:p>
            <a:r>
              <a:rPr lang="en-GB" sz="800" dirty="0"/>
              <a:t>Joseph J, </a:t>
            </a:r>
            <a:r>
              <a:rPr lang="en-GB" sz="800" dirty="0" err="1"/>
              <a:t>Roudier</a:t>
            </a:r>
            <a:r>
              <a:rPr lang="en-GB" sz="800" dirty="0"/>
              <a:t> MP, Narayanan PL, </a:t>
            </a:r>
            <a:r>
              <a:rPr lang="en-GB" sz="800" dirty="0" err="1"/>
              <a:t>Augulis</a:t>
            </a:r>
            <a:r>
              <a:rPr lang="en-GB" sz="800" dirty="0"/>
              <a:t> R, Ros VR, Pritchard A, Gerrard J, </a:t>
            </a:r>
            <a:r>
              <a:rPr lang="en-GB" sz="800" dirty="0" err="1"/>
              <a:t>Laurinavicius</a:t>
            </a:r>
            <a:r>
              <a:rPr lang="en-GB" sz="800" dirty="0"/>
              <a:t> A, Harrington EA, Barrett JC, Howat WJ. Proliferation Tumour Marker Network (PTM-NET) for the identification of tumour region in Ki67 stained breast cancer whole slide images. Scientific reports. 2019 Sep 6;9(1):12845.</a:t>
            </a:r>
          </a:p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155662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6" grpId="1"/>
      <p:bldP spid="39" grpId="0"/>
      <p:bldP spid="3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5815280-8CCC-3AF9-5FB2-899FF9CEA5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B59DF-1C2D-0471-DC22-36443CBB12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27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Linear regression by example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290E98-F0FA-91DE-892B-AF31691D0872}"/>
              </a:ext>
            </a:extLst>
          </p:cNvPr>
          <p:cNvSpPr/>
          <p:nvPr/>
        </p:nvSpPr>
        <p:spPr>
          <a:xfrm>
            <a:off x="457200" y="1504950"/>
            <a:ext cx="8229600" cy="1485900"/>
          </a:xfrm>
          <a:prstGeom prst="roundRect">
            <a:avLst>
              <a:gd name="adj" fmla="val 512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3821C77-1E49-5ECC-5AD0-8720385AF8C9}"/>
              </a:ext>
            </a:extLst>
          </p:cNvPr>
          <p:cNvSpPr/>
          <p:nvPr/>
        </p:nvSpPr>
        <p:spPr>
          <a:xfrm>
            <a:off x="485775" y="1504950"/>
            <a:ext cx="0" cy="1485900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733B18-A1EA-BC28-EBD1-687EC677CF40}"/>
              </a:ext>
            </a:extLst>
          </p:cNvPr>
          <p:cNvSpPr/>
          <p:nvPr/>
        </p:nvSpPr>
        <p:spPr>
          <a:xfrm>
            <a:off x="742949" y="1581150"/>
            <a:ext cx="78695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52C4A78-A7B9-4B48-79A7-B59694107DA1}"/>
              </a:ext>
            </a:extLst>
          </p:cNvPr>
          <p:cNvSpPr/>
          <p:nvPr/>
        </p:nvSpPr>
        <p:spPr>
          <a:xfrm>
            <a:off x="692151" y="1905000"/>
            <a:ext cx="7869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predict linear relationship between x and y </a:t>
            </a:r>
          </a:p>
          <a:p>
            <a:pPr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rgbClr val="181B24"/>
                </a:solidFill>
                <a:ea typeface="Arial" pitchFamily="34" charset="-122"/>
                <a:cs typeface="Arial" pitchFamily="34" charset="-120"/>
              </a:rPr>
              <a:t>x=</a:t>
            </a:r>
            <a:r>
              <a:rPr lang="en-GB" sz="1200" dirty="0"/>
              <a:t>[-1.0, 0.0, 1.0, 2.0, 3.0, 4.0]  y = [-1.5, 0.0, 1.5, 3.0, 4.5, 6.0] </a:t>
            </a:r>
          </a:p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500" dirty="0">
              <a:solidFill>
                <a:srgbClr val="181B2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500" dirty="0">
              <a:solidFill>
                <a:srgbClr val="181B2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500" dirty="0">
              <a:solidFill>
                <a:srgbClr val="181B2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500" dirty="0">
              <a:solidFill>
                <a:srgbClr val="181B2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1BE24D5-C91D-B125-A31F-E3C580A52952}"/>
              </a:ext>
            </a:extLst>
          </p:cNvPr>
          <p:cNvSpPr/>
          <p:nvPr/>
        </p:nvSpPr>
        <p:spPr>
          <a:xfrm>
            <a:off x="742948" y="2628172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6 training data points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4D974-CEE0-3042-EE0B-7CCA971352FF}"/>
              </a:ext>
            </a:extLst>
          </p:cNvPr>
          <p:cNvSpPr txBox="1"/>
          <p:nvPr/>
        </p:nvSpPr>
        <p:spPr>
          <a:xfrm>
            <a:off x="559468" y="3548406"/>
            <a:ext cx="386213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 linear relationship: </a:t>
            </a:r>
            <a:r>
              <a:rPr lang="en-US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1.5x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90166-ED60-606D-7D70-702F66891F26}"/>
              </a:ext>
            </a:extLst>
          </p:cNvPr>
          <p:cNvSpPr txBox="1"/>
          <p:nvPr/>
        </p:nvSpPr>
        <p:spPr>
          <a:xfrm>
            <a:off x="692151" y="4290060"/>
            <a:ext cx="5624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Same random seed for different optimizers</a:t>
            </a:r>
          </a:p>
          <a:p>
            <a:r>
              <a:rPr lang="en-GB" sz="1200" dirty="0"/>
              <a:t>Same initialized weights and bias for different optimizers</a:t>
            </a:r>
          </a:p>
          <a:p>
            <a:r>
              <a:rPr lang="en-GB" sz="1200" dirty="0"/>
              <a:t>Convergence</a:t>
            </a:r>
          </a:p>
        </p:txBody>
      </p:sp>
    </p:spTree>
    <p:extLst>
      <p:ext uri="{BB962C8B-B14F-4D97-AF65-F5344CB8AC3E}">
        <p14:creationId xmlns:p14="http://schemas.microsoft.com/office/powerpoint/2010/main" val="399257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9" grpId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EA266160-DF31-B60F-76EF-93380433A87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8793" b="4315"/>
          <a:stretch>
            <a:fillRect/>
          </a:stretch>
        </p:blipFill>
        <p:spPr>
          <a:xfrm>
            <a:off x="2956561" y="1515634"/>
            <a:ext cx="3350820" cy="2911585"/>
          </a:xfr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80F7F-E52E-DD85-9841-2B661405B1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200" y="298761"/>
            <a:ext cx="7455788" cy="8698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7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Foundation examples from </a:t>
            </a:r>
            <a:r>
              <a:rPr lang="en-GB" sz="2700" b="1" dirty="0" err="1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github</a:t>
            </a:r>
            <a:endParaRPr lang="en-GB" sz="2700" b="1" dirty="0">
              <a:solidFill>
                <a:schemeClr val="bg2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72079-E187-7CE7-2485-2E7CC05E45BE}"/>
              </a:ext>
            </a:extLst>
          </p:cNvPr>
          <p:cNvSpPr txBox="1"/>
          <p:nvPr/>
        </p:nvSpPr>
        <p:spPr>
          <a:xfrm>
            <a:off x="159041" y="4427219"/>
            <a:ext cx="4077141" cy="723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457189">
              <a:spcBef>
                <a:spcPts val="500"/>
              </a:spcBef>
            </a:pPr>
            <a:r>
              <a:rPr lang="en-GB" sz="9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https://github.com/IntegratedPathologyUnit-ICR/bioml_datascience/blob/main/bioml_notebook_linear_algebra_example_pca.ipynb</a:t>
            </a:r>
            <a:endParaRPr lang="en-GB" sz="900" dirty="0">
              <a:solidFill>
                <a:schemeClr val="tx2"/>
              </a:solidFill>
            </a:endParaRPr>
          </a:p>
          <a:p>
            <a:pPr defTabSz="457189">
              <a:spcBef>
                <a:spcPts val="500"/>
              </a:spcBef>
            </a:pPr>
            <a:endParaRPr lang="en-GB" sz="1500" dirty="0">
              <a:solidFill>
                <a:schemeClr val="tx2"/>
              </a:solidFill>
            </a:endParaRPr>
          </a:p>
          <a:p>
            <a:pPr defTabSz="457189">
              <a:spcBef>
                <a:spcPts val="500"/>
              </a:spcBef>
            </a:pPr>
            <a:endParaRPr lang="en-GB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880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collage of purple and white cells&#10;&#10;AI-generated content may be incorrect.">
            <a:extLst>
              <a:ext uri="{FF2B5EF4-FFF2-40B4-BE49-F238E27FC236}">
                <a16:creationId xmlns:a16="http://schemas.microsoft.com/office/drawing/2014/main" id="{42D16679-2983-5B6A-ADD7-FD8E894F72A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3596" t="18111" r="3596" b="2339"/>
          <a:stretch>
            <a:fillRect/>
          </a:stretch>
        </p:blipFill>
        <p:spPr>
          <a:xfrm>
            <a:off x="4481764" y="2977815"/>
            <a:ext cx="4511036" cy="157816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5351E-F051-0FA6-BD5E-29FF4CAC0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defTabSz="914400"/>
            <a:r>
              <a:rPr lang="en-GB" sz="27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Understanding linear algebra behind histopathology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D3960C-4E59-A082-1048-847BCE933BB8}"/>
              </a:ext>
            </a:extLst>
          </p:cNvPr>
          <p:cNvSpPr/>
          <p:nvPr/>
        </p:nvSpPr>
        <p:spPr>
          <a:xfrm>
            <a:off x="151200" y="1221455"/>
            <a:ext cx="37501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750"/>
              </a:spcAft>
              <a:buNone/>
            </a:pPr>
            <a:r>
              <a:rPr lang="en-US" sz="22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 Challenge	</a:t>
            </a:r>
            <a:endParaRPr lang="en-US" sz="22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7B517-4AC1-6F88-1B46-CA2278C88202}"/>
              </a:ext>
            </a:extLst>
          </p:cNvPr>
          <p:cNvSpPr txBox="1"/>
          <p:nvPr/>
        </p:nvSpPr>
        <p:spPr>
          <a:xfrm>
            <a:off x="151199" y="1753696"/>
            <a:ext cx="41260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Tissue samples are stained with dyes and imaged for tissue based diagnosis </a:t>
            </a:r>
          </a:p>
          <a:p>
            <a:endParaRPr lang="en-GB" sz="1600" dirty="0"/>
          </a:p>
          <a:p>
            <a:r>
              <a:rPr lang="en-GB" sz="1600" dirty="0" err="1"/>
              <a:t>Hematoxylin</a:t>
            </a:r>
            <a:r>
              <a:rPr lang="en-GB" sz="1600" dirty="0"/>
              <a:t> </a:t>
            </a:r>
            <a:r>
              <a:rPr lang="en-GB" sz="800" dirty="0"/>
              <a:t>Purple/Blue</a:t>
            </a:r>
            <a:r>
              <a:rPr lang="en-GB" sz="1600" dirty="0"/>
              <a:t> (stains cell nuclei -&gt; DNA)</a:t>
            </a:r>
          </a:p>
          <a:p>
            <a:endParaRPr lang="en-GB" sz="1600" dirty="0"/>
          </a:p>
          <a:p>
            <a:r>
              <a:rPr lang="en-GB" sz="1600" dirty="0"/>
              <a:t>Eosin </a:t>
            </a:r>
            <a:r>
              <a:rPr lang="en-GB" sz="800" dirty="0"/>
              <a:t>Pink/red</a:t>
            </a:r>
            <a:r>
              <a:rPr lang="en-GB" sz="1600" dirty="0"/>
              <a:t> (stains cytoplasm)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Key Insight: These are separate optical components that can be mathematically separated using linear algebra</a:t>
            </a:r>
          </a:p>
        </p:txBody>
      </p:sp>
      <p:pic>
        <p:nvPicPr>
          <p:cNvPr id="9" name="Picture 8" descr="A collage of different colors of a human body&#10;&#10;AI-generated content may be incorrect.">
            <a:extLst>
              <a:ext uri="{FF2B5EF4-FFF2-40B4-BE49-F238E27FC236}">
                <a16:creationId xmlns:a16="http://schemas.microsoft.com/office/drawing/2014/main" id="{9841BFFD-E8DF-0E4D-97B9-B12789C662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10" b="3852"/>
          <a:stretch>
            <a:fillRect/>
          </a:stretch>
        </p:blipFill>
        <p:spPr>
          <a:xfrm>
            <a:off x="4481763" y="1411186"/>
            <a:ext cx="4511037" cy="14838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12C1B9-79B8-8319-BFB4-80338F934029}"/>
              </a:ext>
            </a:extLst>
          </p:cNvPr>
          <p:cNvSpPr txBox="1"/>
          <p:nvPr/>
        </p:nvSpPr>
        <p:spPr>
          <a:xfrm>
            <a:off x="151200" y="4928056"/>
            <a:ext cx="8841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err="1"/>
              <a:t>Macenko</a:t>
            </a:r>
            <a:r>
              <a:rPr lang="en-GB" sz="800" dirty="0"/>
              <a:t>, Marc et al. "A method for normalizing histology slides for quantitative analysis." 2009 IEEE International Symposium on Biomedical Imaging: From Nano to Macro. IEEE, 2009.</a:t>
            </a:r>
          </a:p>
        </p:txBody>
      </p:sp>
    </p:spTree>
    <p:extLst>
      <p:ext uri="{BB962C8B-B14F-4D97-AF65-F5344CB8AC3E}">
        <p14:creationId xmlns:p14="http://schemas.microsoft.com/office/powerpoint/2010/main" val="385624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42367"/>
            <a:ext cx="78404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5000"/>
              </a:lnSpc>
              <a:spcBef>
                <a:spcPts val="500"/>
              </a:spcBef>
              <a:spcAft>
                <a:spcPts val="1440"/>
              </a:spcAft>
            </a:pPr>
            <a:r>
              <a:rPr lang="en-US" sz="27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Mathematical Foundation: From RGB to OD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558528"/>
            <a:ext cx="8229600" cy="799058"/>
          </a:xfrm>
          <a:prstGeom prst="roundRect">
            <a:avLst>
              <a:gd name="adj" fmla="val 9536"/>
            </a:avLst>
          </a:prstGeom>
          <a:solidFill>
            <a:srgbClr val="E8E6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558528"/>
            <a:ext cx="0" cy="799058"/>
          </a:xfrm>
          <a:prstGeom prst="line">
            <a:avLst/>
          </a:prstGeom>
          <a:noFill/>
          <a:ln w="38100">
            <a:solidFill>
              <a:srgbClr val="7B2C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78061" y="1680418"/>
            <a:ext cx="7982498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84"/>
              </a:lnSpc>
              <a:spcAft>
                <a:spcPts val="480"/>
              </a:spcAft>
              <a:buNone/>
            </a:pPr>
            <a:r>
              <a:rPr lang="en-US" sz="1320" b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Beer-Lambert Law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78061" y="1942356"/>
            <a:ext cx="798249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RGB to Optical Density: </a:t>
            </a:r>
            <a:r>
              <a:rPr lang="en-US" sz="1650" i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= -log(I / 255)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86186"/>
            <a:ext cx="8229600" cy="799058"/>
          </a:xfrm>
          <a:prstGeom prst="roundRect">
            <a:avLst>
              <a:gd name="adj" fmla="val 9536"/>
            </a:avLst>
          </a:prstGeom>
          <a:solidFill>
            <a:srgbClr val="E8E6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6250" y="2586186"/>
            <a:ext cx="0" cy="799058"/>
          </a:xfrm>
          <a:prstGeom prst="line">
            <a:avLst/>
          </a:prstGeom>
          <a:noFill/>
          <a:ln w="38100">
            <a:solidFill>
              <a:srgbClr val="7B2C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78061" y="2708077"/>
            <a:ext cx="7982498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84"/>
              </a:lnSpc>
              <a:spcAft>
                <a:spcPts val="480"/>
              </a:spcAft>
              <a:buNone/>
            </a:pPr>
            <a:r>
              <a:rPr lang="en-US" sz="1320" b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Covariance Matrix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78061" y="2970014"/>
            <a:ext cx="798249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</a:t>
            </a:r>
            <a:r>
              <a:rPr lang="en-US" sz="1650" i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cov(OD)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capture how R, G, B channels co-vary</a:t>
            </a:r>
            <a:endParaRPr lang="en-US" sz="1500" dirty="0"/>
          </a:p>
        </p:txBody>
      </p:sp>
      <p:pic>
        <p:nvPicPr>
          <p:cNvPr id="11" name="Image 0" descr="/tmp/rasterized-gradient-f7275c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3845"/>
            <a:ext cx="8229600" cy="61093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19042" y="3796605"/>
            <a:ext cx="7963067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32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Eigenvectors reveal principal stain directions!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7752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ct val="85000"/>
              </a:lnSpc>
              <a:spcBef>
                <a:spcPts val="500"/>
              </a:spcBef>
              <a:spcAft>
                <a:spcPts val="1440"/>
              </a:spcAft>
              <a:buNone/>
            </a:pPr>
            <a:r>
              <a:rPr lang="en-US" sz="27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Eigendecomposition: Finding Stain Vectors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888182"/>
            <a:ext cx="3886200" cy="2006947"/>
          </a:xfrm>
          <a:prstGeom prst="roundRect">
            <a:avLst>
              <a:gd name="adj" fmla="val 5695"/>
            </a:avLst>
          </a:prstGeom>
          <a:solidFill>
            <a:srgbClr val="E8E6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9961" y="2070943"/>
            <a:ext cx="3591092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84"/>
              </a:lnSpc>
              <a:spcAft>
                <a:spcPts val="900"/>
              </a:spcAft>
              <a:buNone/>
            </a:pPr>
            <a:r>
              <a:rPr lang="en-US" sz="1320" b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Eigenvalue Equation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604754" y="2386310"/>
            <a:ext cx="3591092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40" i="1" dirty="0">
                <a:solidFill>
                  <a:srgbClr val="7B2C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 · v = λ · v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639961" y="2756595"/>
            <a:ext cx="3520678" cy="955774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485" i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Covariance matrix 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485" i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Eigenvector (stain direction)</a:t>
            </a:r>
            <a:endParaRPr lang="en-US" sz="1350" dirty="0"/>
          </a:p>
          <a:p>
            <a:pPr marL="72390" indent="-72390" algn="l">
              <a:lnSpc>
                <a:spcPts val="2100"/>
              </a:lnSpc>
              <a:buSzPct val="100000"/>
              <a:buChar char="•"/>
            </a:pPr>
            <a:r>
              <a:rPr lang="en-US" sz="1485" i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Eigenvalue (variance)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00600" y="1653480"/>
            <a:ext cx="3963924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Code Does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800600" y="2083147"/>
            <a:ext cx="3886200" cy="1462980"/>
          </a:xfrm>
          <a:prstGeom prst="roundRect">
            <a:avLst>
              <a:gd name="adj" fmla="val 5209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83361" y="2235547"/>
            <a:ext cx="359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Compute eigenvectors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361" y="2547938"/>
            <a:ext cx="359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_, V</a:t>
            </a: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np.linalg.eigh(cov_matrix)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361" y="2860328"/>
            <a:ext cx="359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60"/>
              </a:spcBef>
              <a:buNone/>
            </a:pPr>
            <a:r>
              <a:rPr lang="en-US" sz="1500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Take top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361" y="3127028"/>
            <a:ext cx="359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V[:, [2, 1]]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3889028"/>
            <a:ext cx="396392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4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 eigenvectors = H and E stain directions!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974" y="381000"/>
            <a:ext cx="8130052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5000"/>
              </a:lnSpc>
              <a:spcBef>
                <a:spcPts val="500"/>
              </a:spcBef>
              <a:spcAft>
                <a:spcPts val="1800"/>
              </a:spcAft>
            </a:pPr>
            <a:r>
              <a:rPr lang="en-US" sz="24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Stain Normalization Connects Multiple Disciplines</a:t>
            </a:r>
          </a:p>
        </p:txBody>
      </p:sp>
      <p:pic>
        <p:nvPicPr>
          <p:cNvPr id="3" name="Image 0" descr="/tmp/rasterized-gradient-8133f39e.pn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6787" y="920280"/>
            <a:ext cx="3886200" cy="9624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 1"/>
          <p:cNvSpPr/>
          <p:nvPr/>
        </p:nvSpPr>
        <p:spPr>
          <a:xfrm>
            <a:off x="1267143" y="1127224"/>
            <a:ext cx="2469610" cy="23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7"/>
              </a:lnSpc>
              <a:spcAft>
                <a:spcPts val="600"/>
              </a:spcAft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Machine/Deep Learning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651510" y="1440507"/>
            <a:ext cx="349758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for robust AI models</a:t>
            </a:r>
            <a:endParaRPr lang="en-US" sz="1080" dirty="0"/>
          </a:p>
        </p:txBody>
      </p:sp>
      <p:pic>
        <p:nvPicPr>
          <p:cNvPr id="6" name="Image 1" descr="/tmp/rasterized-gradient-91b556b7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00600" y="898624"/>
            <a:ext cx="3886200" cy="9624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64447" y="1127224"/>
            <a:ext cx="1758506" cy="23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7"/>
              </a:lnSpc>
              <a:spcAft>
                <a:spcPts val="600"/>
              </a:spcAft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680" dirty="0"/>
          </a:p>
        </p:txBody>
      </p:sp>
      <p:sp>
        <p:nvSpPr>
          <p:cNvPr id="8" name="Text 4"/>
          <p:cNvSpPr/>
          <p:nvPr/>
        </p:nvSpPr>
        <p:spPr>
          <a:xfrm>
            <a:off x="4994910" y="1440507"/>
            <a:ext cx="349758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Color constancy and domain adaptation</a:t>
            </a:r>
            <a:endParaRPr lang="en-US" sz="1080" dirty="0"/>
          </a:p>
        </p:txBody>
      </p:sp>
      <p:pic>
        <p:nvPicPr>
          <p:cNvPr id="9" name="Image 2" descr="/tmp/rasterized-gradient-e63c9a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18296"/>
            <a:ext cx="8229600" cy="11470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09469" y="2592586"/>
            <a:ext cx="3925062" cy="27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33"/>
              </a:lnSpc>
              <a:spcAft>
                <a:spcPts val="900"/>
              </a:spcAft>
              <a:buNone/>
            </a:pPr>
            <a:r>
              <a:rPr lang="en-US" sz="1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Engine</a:t>
            </a:r>
            <a:endParaRPr lang="en-US" sz="1920" dirty="0"/>
          </a:p>
        </p:txBody>
      </p:sp>
      <p:sp>
        <p:nvSpPr>
          <p:cNvPr id="11" name="Text 6"/>
          <p:cNvSpPr/>
          <p:nvPr/>
        </p:nvSpPr>
        <p:spPr>
          <a:xfrm>
            <a:off x="654680" y="2977753"/>
            <a:ext cx="7834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Stain Normalization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bridges mathematics and medicine using eigendecomposition to separate biological signals</a:t>
            </a:r>
            <a:endParaRPr lang="en-US" sz="1200" dirty="0"/>
          </a:p>
        </p:txBody>
      </p:sp>
      <p:pic>
        <p:nvPicPr>
          <p:cNvPr id="12" name="Image 3" descr="/tmp/rasterized-gradient-28256fea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7200" y="3922514"/>
            <a:ext cx="3886200" cy="9624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21047" y="4151114"/>
            <a:ext cx="1758506" cy="23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7"/>
              </a:lnSpc>
              <a:spcAft>
                <a:spcPts val="600"/>
              </a:spcAft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</a:t>
            </a:r>
            <a:endParaRPr lang="en-US" sz="1680" dirty="0"/>
          </a:p>
        </p:txBody>
      </p:sp>
      <p:sp>
        <p:nvSpPr>
          <p:cNvPr id="14" name="Text 8"/>
          <p:cNvSpPr/>
          <p:nvPr/>
        </p:nvSpPr>
        <p:spPr>
          <a:xfrm>
            <a:off x="651510" y="4464397"/>
            <a:ext cx="349758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Multi-center data harmonization</a:t>
            </a:r>
            <a:endParaRPr lang="en-US" sz="1080" dirty="0"/>
          </a:p>
        </p:txBody>
      </p:sp>
      <p:pic>
        <p:nvPicPr>
          <p:cNvPr id="15" name="Image 4" descr="/tmp/rasterized-gradient-efdd77d0.png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800600" y="3922514"/>
            <a:ext cx="3886200" cy="9624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864447" y="4151114"/>
            <a:ext cx="1758506" cy="23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7"/>
              </a:lnSpc>
              <a:spcAft>
                <a:spcPts val="600"/>
              </a:spcAft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680" dirty="0"/>
          </a:p>
        </p:txBody>
      </p:sp>
      <p:sp>
        <p:nvSpPr>
          <p:cNvPr id="17" name="Text 10"/>
          <p:cNvSpPr/>
          <p:nvPr/>
        </p:nvSpPr>
        <p:spPr>
          <a:xfrm>
            <a:off x="4994910" y="4464397"/>
            <a:ext cx="349758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estimation via sparse coding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6AED5961-71F4-BFF8-1875-A11F6C8E0AF5}"/>
              </a:ext>
            </a:extLst>
          </p:cNvPr>
          <p:cNvSpPr/>
          <p:nvPr/>
        </p:nvSpPr>
        <p:spPr>
          <a:xfrm>
            <a:off x="457200" y="1572016"/>
            <a:ext cx="3962400" cy="999734"/>
          </a:xfrm>
          <a:prstGeom prst="roundRect">
            <a:avLst>
              <a:gd name="adj" fmla="val 6813"/>
            </a:avLst>
          </a:prstGeom>
          <a:solidFill>
            <a:srgbClr val="F0E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A2DE16C7-2275-2A95-E43F-0BC53389B925}"/>
              </a:ext>
            </a:extLst>
          </p:cNvPr>
          <p:cNvSpPr/>
          <p:nvPr/>
        </p:nvSpPr>
        <p:spPr>
          <a:xfrm>
            <a:off x="506972" y="1572016"/>
            <a:ext cx="2" cy="999734"/>
          </a:xfrm>
          <a:prstGeom prst="line">
            <a:avLst/>
          </a:prstGeom>
          <a:noFill/>
          <a:ln w="57150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14E11B85-97C8-E1F0-80E9-02A318BDB9AC}"/>
              </a:ext>
            </a:extLst>
          </p:cNvPr>
          <p:cNvSpPr/>
          <p:nvPr/>
        </p:nvSpPr>
        <p:spPr>
          <a:xfrm>
            <a:off x="752475" y="1640384"/>
            <a:ext cx="3497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</a:t>
            </a:r>
            <a:endParaRPr lang="en-US" sz="16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092051DE-72AF-5405-5885-7799417B1C6F}"/>
              </a:ext>
            </a:extLst>
          </p:cNvPr>
          <p:cNvSpPr/>
          <p:nvPr/>
        </p:nvSpPr>
        <p:spPr>
          <a:xfrm>
            <a:off x="752475" y="2097584"/>
            <a:ext cx="349758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Iteratively move in direction of steepest descent to minimize loss function</a:t>
            </a:r>
            <a:endParaRPr lang="en-US" sz="1200" dirty="0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F882A225-BE9D-EFC7-1FFC-A4B14122C87C}"/>
              </a:ext>
            </a:extLst>
          </p:cNvPr>
          <p:cNvSpPr/>
          <p:nvPr/>
        </p:nvSpPr>
        <p:spPr>
          <a:xfrm>
            <a:off x="457200" y="2686050"/>
            <a:ext cx="3962400" cy="931428"/>
          </a:xfrm>
          <a:prstGeom prst="roundRect">
            <a:avLst>
              <a:gd name="adj" fmla="val 6813"/>
            </a:avLst>
          </a:prstGeom>
          <a:solidFill>
            <a:srgbClr val="F0E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F1169563-9180-2D2B-5147-00273FC35917}"/>
              </a:ext>
            </a:extLst>
          </p:cNvPr>
          <p:cNvSpPr/>
          <p:nvPr/>
        </p:nvSpPr>
        <p:spPr>
          <a:xfrm>
            <a:off x="689610" y="2754747"/>
            <a:ext cx="3497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Momentum-Based</a:t>
            </a:r>
            <a:endParaRPr lang="en-US" sz="1600" dirty="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C80E4A75-D8EB-273C-0F33-EB39C076BA2C}"/>
              </a:ext>
            </a:extLst>
          </p:cNvPr>
          <p:cNvSpPr/>
          <p:nvPr/>
        </p:nvSpPr>
        <p:spPr>
          <a:xfrm>
            <a:off x="689610" y="3111346"/>
            <a:ext cx="349758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convergence by accumulating gradients (Adam, RMSprop)</a:t>
            </a:r>
            <a:endParaRPr lang="en-US" sz="1200" dirty="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30481EF7-4627-3766-5C5D-56E890A48F9F}"/>
              </a:ext>
            </a:extLst>
          </p:cNvPr>
          <p:cNvSpPr/>
          <p:nvPr/>
        </p:nvSpPr>
        <p:spPr>
          <a:xfrm>
            <a:off x="506974" y="2693554"/>
            <a:ext cx="0" cy="931428"/>
          </a:xfrm>
          <a:prstGeom prst="line">
            <a:avLst/>
          </a:prstGeom>
          <a:noFill/>
          <a:ln w="57150">
            <a:solidFill>
              <a:srgbClr val="4069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2B7AA0-78B7-CD67-E179-DD0AC90534D0}"/>
              </a:ext>
            </a:extLst>
          </p:cNvPr>
          <p:cNvGrpSpPr/>
          <p:nvPr/>
        </p:nvGrpSpPr>
        <p:grpSpPr>
          <a:xfrm>
            <a:off x="457200" y="3731778"/>
            <a:ext cx="3962400" cy="999734"/>
            <a:chOff x="4724400" y="1572016"/>
            <a:chExt cx="3962400" cy="999734"/>
          </a:xfrm>
        </p:grpSpPr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3BDF8DD9-31D8-5866-2E83-5A982D289491}"/>
                </a:ext>
              </a:extLst>
            </p:cNvPr>
            <p:cNvSpPr/>
            <p:nvPr/>
          </p:nvSpPr>
          <p:spPr>
            <a:xfrm>
              <a:off x="4724400" y="1579334"/>
              <a:ext cx="3962400" cy="992416"/>
            </a:xfrm>
            <a:prstGeom prst="roundRect">
              <a:avLst>
                <a:gd name="adj" fmla="val 6813"/>
              </a:avLst>
            </a:prstGeom>
            <a:solidFill>
              <a:srgbClr val="F0EFF4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31155D30-E480-A6C5-23CC-28E150EEC9F0}"/>
                </a:ext>
              </a:extLst>
            </p:cNvPr>
            <p:cNvSpPr/>
            <p:nvPr/>
          </p:nvSpPr>
          <p:spPr>
            <a:xfrm>
              <a:off x="4752975" y="1572016"/>
              <a:ext cx="0" cy="999734"/>
            </a:xfrm>
            <a:prstGeom prst="line">
              <a:avLst/>
            </a:prstGeom>
            <a:noFill/>
            <a:ln w="57150">
              <a:solidFill>
                <a:srgbClr val="40695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E6B9D07D-2287-1250-4536-B7FFAB6D3CF8}"/>
                </a:ext>
              </a:extLst>
            </p:cNvPr>
            <p:cNvSpPr/>
            <p:nvPr/>
          </p:nvSpPr>
          <p:spPr>
            <a:xfrm>
              <a:off x="5019675" y="1640384"/>
              <a:ext cx="349758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spcAft>
                  <a:spcPts val="900"/>
                </a:spcAft>
                <a:buNone/>
              </a:pPr>
              <a:r>
                <a:rPr lang="en-US" sz="1600" b="1" dirty="0">
                  <a:solidFill>
                    <a:srgbClr val="40695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Stochastic Methods</a:t>
              </a:r>
              <a:endParaRPr lang="en-US" sz="1600" dirty="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5F057E08-8505-7A6F-E381-EE0590368CC1}"/>
                </a:ext>
              </a:extLst>
            </p:cNvPr>
            <p:cNvSpPr/>
            <p:nvPr/>
          </p:nvSpPr>
          <p:spPr>
            <a:xfrm>
              <a:off x="5019675" y="2097584"/>
              <a:ext cx="3497580" cy="4265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120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 random subsets of data for faster convergence (SGD, Mini-batch)</a:t>
              </a:r>
              <a:endParaRPr lang="en-US" sz="1200" dirty="0"/>
            </a:p>
          </p:txBody>
        </p:sp>
      </p:grpSp>
      <p:sp>
        <p:nvSpPr>
          <p:cNvPr id="18" name="Text 0">
            <a:extLst>
              <a:ext uri="{FF2B5EF4-FFF2-40B4-BE49-F238E27FC236}">
                <a16:creationId xmlns:a16="http://schemas.microsoft.com/office/drawing/2014/main" id="{BCC99E82-7A32-71D6-CF0F-DE744FB4426B}"/>
              </a:ext>
            </a:extLst>
          </p:cNvPr>
          <p:cNvSpPr/>
          <p:nvPr/>
        </p:nvSpPr>
        <p:spPr>
          <a:xfrm>
            <a:off x="506974" y="381000"/>
            <a:ext cx="8130052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5000"/>
              </a:lnSpc>
              <a:spcBef>
                <a:spcPts val="500"/>
              </a:spcBef>
              <a:spcAft>
                <a:spcPts val="1800"/>
              </a:spcAft>
            </a:pPr>
            <a:r>
              <a:rPr lang="en-US" sz="24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Optimization techniques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47E0F0-8FE6-8CB6-90D3-5DBFFB39CC64}"/>
              </a:ext>
            </a:extLst>
          </p:cNvPr>
          <p:cNvSpPr txBox="1"/>
          <p:nvPr/>
        </p:nvSpPr>
        <p:spPr>
          <a:xfrm>
            <a:off x="4572000" y="1487107"/>
            <a:ext cx="424433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shows fastest initial drop</a:t>
            </a:r>
            <a:endParaRPr lang="en-US" sz="160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reach similar final loss</a:t>
            </a:r>
            <a:endParaRPr lang="en-US" sz="160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convergence patterns</a:t>
            </a:r>
            <a:endParaRPr lang="en-US" sz="160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 shows steady progress</a:t>
            </a:r>
            <a:endParaRPr lang="en-US" sz="1600" dirty="0"/>
          </a:p>
        </p:txBody>
      </p:sp>
      <p:pic>
        <p:nvPicPr>
          <p:cNvPr id="16" name="Picture 1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C444C2FD-3A66-0134-0321-A47340111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137" y="3920116"/>
            <a:ext cx="1179583" cy="1179583"/>
          </a:xfrm>
          <a:prstGeom prst="rect">
            <a:avLst/>
          </a:prstGeom>
        </p:spPr>
      </p:pic>
      <p:pic>
        <p:nvPicPr>
          <p:cNvPr id="19" name="Picture 1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ECEA07A-F24F-9319-888A-32B806251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673" y="3920116"/>
            <a:ext cx="1169551" cy="1169551"/>
          </a:xfrm>
          <a:prstGeom prst="rect">
            <a:avLst/>
          </a:prstGeom>
        </p:spPr>
      </p:pic>
      <p:pic>
        <p:nvPicPr>
          <p:cNvPr id="22" name="Picture 21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A5BB3F0B-B9BF-3022-96F3-8AD8B288F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041" y="3923388"/>
            <a:ext cx="1166279" cy="116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7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381000"/>
            <a:ext cx="71206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5000"/>
              </a:lnSpc>
              <a:spcBef>
                <a:spcPts val="500"/>
              </a:spcBef>
              <a:spcAft>
                <a:spcPts val="1440"/>
              </a:spcAft>
            </a:pPr>
            <a:r>
              <a:rPr lang="en-US" sz="2700" b="1" dirty="0">
                <a:solidFill>
                  <a:schemeClr val="bg2"/>
                </a:solidFill>
                <a:latin typeface="Arial" pitchFamily="34" charset="0"/>
                <a:cs typeface="Arial" pitchFamily="34" charset="-120"/>
              </a:rPr>
              <a:t>Why Mathematical Foundations Matter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62318A-A350-B1FE-08EB-9AF74C1BA4BB}"/>
              </a:ext>
            </a:extLst>
          </p:cNvPr>
          <p:cNvGrpSpPr/>
          <p:nvPr/>
        </p:nvGrpSpPr>
        <p:grpSpPr>
          <a:xfrm>
            <a:off x="457201" y="964258"/>
            <a:ext cx="3886200" cy="1748281"/>
            <a:chOff x="457200" y="1392436"/>
            <a:chExt cx="3886200" cy="1976289"/>
          </a:xfrm>
        </p:grpSpPr>
        <p:sp>
          <p:nvSpPr>
            <p:cNvPr id="3" name="Text 1"/>
            <p:cNvSpPr/>
            <p:nvPr/>
          </p:nvSpPr>
          <p:spPr>
            <a:xfrm>
              <a:off x="457200" y="1392436"/>
              <a:ext cx="3886200" cy="1976289"/>
            </a:xfrm>
            <a:prstGeom prst="roundRect">
              <a:avLst>
                <a:gd name="adj" fmla="val 7711"/>
              </a:avLst>
            </a:prstGeom>
            <a:solidFill>
              <a:srgbClr val="E8F4F8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639961" y="1575197"/>
              <a:ext cx="3591092" cy="2010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84"/>
                </a:lnSpc>
                <a:buNone/>
              </a:pPr>
              <a:r>
                <a:rPr lang="en-US" sz="1320" b="1" dirty="0">
                  <a:solidFill>
                    <a:srgbClr val="0E7C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Clinical Impact</a:t>
              </a:r>
              <a:endParaRPr lang="en-US" sz="132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39961" y="2004864"/>
              <a:ext cx="3520678" cy="1181100"/>
            </a:xfrm>
            <a:prstGeom prst="rect">
              <a:avLst/>
            </a:prstGeom>
            <a:noFill/>
            <a:ln/>
          </p:spPr>
          <p:txBody>
            <a:bodyPr wrap="square" lIns="72390" tIns="0" rIns="0" bIns="0" rtlCol="0" anchor="t"/>
            <a:lstStyle/>
            <a:p>
              <a:pPr marL="72390" indent="-72390" algn="l">
                <a:lnSpc>
                  <a:spcPts val="2100"/>
                </a:lnSpc>
                <a:buSzPct val="100000"/>
                <a:buChar char="•"/>
              </a:pPr>
              <a:r>
                <a:rPr lang="en-US" sz="1350" dirty="0">
                  <a:solidFill>
                    <a:srgbClr val="2C3E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Consistent AI-based biomarker evaluation</a:t>
              </a:r>
              <a:endParaRPr lang="en-US" sz="1350" dirty="0"/>
            </a:p>
            <a:p>
              <a:pPr marL="72390" indent="-72390" algn="l">
                <a:lnSpc>
                  <a:spcPts val="2100"/>
                </a:lnSpc>
                <a:buSzPct val="100000"/>
                <a:buChar char="•"/>
              </a:pPr>
              <a:r>
                <a:rPr lang="en-US" sz="1350" dirty="0">
                  <a:solidFill>
                    <a:srgbClr val="2C3E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Multi-site comparisons</a:t>
              </a:r>
              <a:endParaRPr lang="en-US" sz="1350" dirty="0"/>
            </a:p>
            <a:p>
              <a:pPr marL="72390" indent="-72390" algn="l">
                <a:lnSpc>
                  <a:spcPts val="2100"/>
                </a:lnSpc>
                <a:buSzPct val="100000"/>
                <a:buChar char="•"/>
              </a:pPr>
              <a:r>
                <a:rPr lang="en-US" sz="1350" dirty="0">
                  <a:solidFill>
                    <a:srgbClr val="2C3E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Reliable metric</a:t>
              </a:r>
              <a:endParaRPr lang="en-US" sz="1350" dirty="0"/>
            </a:p>
            <a:p>
              <a:pPr marL="72390" indent="-72390" algn="l">
                <a:lnSpc>
                  <a:spcPts val="2100"/>
                </a:lnSpc>
                <a:buSzPct val="100000"/>
                <a:buChar char="•"/>
              </a:pPr>
              <a:r>
                <a:rPr lang="en-US" sz="1350" dirty="0">
                  <a:solidFill>
                    <a:srgbClr val="2C3E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Better patient outcomes</a:t>
              </a:r>
              <a:endParaRPr lang="en-US" sz="135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CB7548-5EC7-9500-45D8-A2CDE7F9B259}"/>
              </a:ext>
            </a:extLst>
          </p:cNvPr>
          <p:cNvGrpSpPr/>
          <p:nvPr/>
        </p:nvGrpSpPr>
        <p:grpSpPr>
          <a:xfrm>
            <a:off x="4688254" y="914400"/>
            <a:ext cx="3781216" cy="1798139"/>
            <a:chOff x="4688253" y="914400"/>
            <a:chExt cx="3886200" cy="1976289"/>
          </a:xfrm>
        </p:grpSpPr>
        <p:sp>
          <p:nvSpPr>
            <p:cNvPr id="6" name="Text 4"/>
            <p:cNvSpPr/>
            <p:nvPr/>
          </p:nvSpPr>
          <p:spPr>
            <a:xfrm>
              <a:off x="4688253" y="914400"/>
              <a:ext cx="3886200" cy="1976289"/>
            </a:xfrm>
            <a:prstGeom prst="roundRect">
              <a:avLst>
                <a:gd name="adj" fmla="val 7711"/>
              </a:avLst>
            </a:prstGeom>
            <a:solidFill>
              <a:srgbClr val="F4E8F8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948154" y="1129183"/>
              <a:ext cx="3591092" cy="2010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84"/>
                </a:lnSpc>
                <a:buNone/>
              </a:pPr>
              <a:r>
                <a:rPr lang="en-US" sz="1320" b="1" dirty="0">
                  <a:solidFill>
                    <a:srgbClr val="7B2CB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Research Benefits</a:t>
              </a:r>
              <a:endParaRPr lang="en-US" sz="132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871014" y="1513010"/>
              <a:ext cx="3520678" cy="1181100"/>
            </a:xfrm>
            <a:prstGeom prst="rect">
              <a:avLst/>
            </a:prstGeom>
            <a:noFill/>
            <a:ln/>
          </p:spPr>
          <p:txBody>
            <a:bodyPr wrap="square" lIns="72390" tIns="0" rIns="0" bIns="0" rtlCol="0" anchor="t"/>
            <a:lstStyle/>
            <a:p>
              <a:pPr marL="72390" indent="-72390" algn="l">
                <a:lnSpc>
                  <a:spcPts val="2100"/>
                </a:lnSpc>
                <a:buSzPct val="100000"/>
                <a:buChar char="•"/>
              </a:pPr>
              <a:r>
                <a:rPr lang="en-US" sz="1350" dirty="0">
                  <a:solidFill>
                    <a:srgbClr val="2C3E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Reproducible studies</a:t>
              </a:r>
              <a:endParaRPr lang="en-US" sz="1350" dirty="0"/>
            </a:p>
            <a:p>
              <a:pPr marL="72390" indent="-72390" algn="l">
                <a:lnSpc>
                  <a:spcPts val="2100"/>
                </a:lnSpc>
                <a:buSzPct val="100000"/>
                <a:buChar char="•"/>
              </a:pPr>
              <a:r>
                <a:rPr lang="en-US" sz="1350" dirty="0">
                  <a:solidFill>
                    <a:srgbClr val="2C3E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harmonization</a:t>
              </a:r>
              <a:endParaRPr lang="en-US" sz="1350" dirty="0"/>
            </a:p>
            <a:p>
              <a:pPr marL="72390" indent="-72390" algn="l">
                <a:lnSpc>
                  <a:spcPts val="2100"/>
                </a:lnSpc>
                <a:buSzPct val="100000"/>
                <a:buChar char="•"/>
              </a:pPr>
              <a:r>
                <a:rPr lang="en-US" sz="1350" dirty="0">
                  <a:solidFill>
                    <a:srgbClr val="2C3E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Multi-center trials</a:t>
              </a:r>
              <a:endParaRPr lang="en-US" sz="1350" dirty="0"/>
            </a:p>
            <a:p>
              <a:pPr marL="72390" indent="-72390" algn="l">
                <a:lnSpc>
                  <a:spcPts val="2100"/>
                </a:lnSpc>
                <a:buSzPct val="100000"/>
                <a:buChar char="•"/>
              </a:pPr>
              <a:r>
                <a:rPr lang="en-US" sz="1350" dirty="0">
                  <a:solidFill>
                    <a:srgbClr val="2C3E5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Algorithm robustness</a:t>
              </a:r>
              <a:endParaRPr lang="en-US" sz="1350" dirty="0"/>
            </a:p>
          </p:txBody>
        </p:sp>
      </p:grpSp>
      <p:pic>
        <p:nvPicPr>
          <p:cNvPr id="9" name="Image 0" descr="/tmp/rasterized-gradient-222ac2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39" y="4258121"/>
            <a:ext cx="8229600" cy="610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9042" y="4380830"/>
            <a:ext cx="7963067" cy="24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32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eigendecomposition and PCA, dimensionality reduction would be impossible!</a:t>
            </a:r>
            <a:endParaRPr lang="en-US" sz="1380" dirty="0"/>
          </a:p>
        </p:txBody>
      </p:sp>
      <p:sp>
        <p:nvSpPr>
          <p:cNvPr id="11" name="Text 2"/>
          <p:cNvSpPr/>
          <p:nvPr/>
        </p:nvSpPr>
        <p:spPr>
          <a:xfrm>
            <a:off x="2126084" y="2895299"/>
            <a:ext cx="498351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Understanding: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intuition beyond black-box models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Debugging: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Diagnose and fix model issues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novel architectures and algorithms</a:t>
            </a:r>
            <a:endParaRPr lang="en-US" sz="1350" dirty="0"/>
          </a:p>
          <a:p>
            <a:pPr marL="95250" indent="-95250" algn="ctr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Guarantees: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Prove convergence and bounds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B940A617-D0B1-5D66-5433-B262784E4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190" y="3138323"/>
            <a:ext cx="1828800" cy="1828800"/>
          </a:xfrm>
          <a:prstGeom prst="rect">
            <a:avLst/>
          </a:prstGeom>
        </p:spPr>
      </p:pic>
      <p:pic>
        <p:nvPicPr>
          <p:cNvPr id="5" name="Picture 4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D51C313D-5CEA-EB1F-8131-10520F41F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638" y="3075985"/>
            <a:ext cx="1968982" cy="19689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648A07-0981-1445-0345-12071CC843B9}"/>
              </a:ext>
            </a:extLst>
          </p:cNvPr>
          <p:cNvSpPr txBox="1"/>
          <p:nvPr/>
        </p:nvSpPr>
        <p:spPr>
          <a:xfrm>
            <a:off x="2369557" y="2260513"/>
            <a:ext cx="3558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Thank you everyone !!!</a:t>
            </a:r>
          </a:p>
        </p:txBody>
      </p:sp>
    </p:spTree>
    <p:extLst>
      <p:ext uri="{BB962C8B-B14F-4D97-AF65-F5344CB8AC3E}">
        <p14:creationId xmlns:p14="http://schemas.microsoft.com/office/powerpoint/2010/main" val="2245268564"/>
      </p:ext>
    </p:extLst>
  </p:cSld>
  <p:clrMapOvr>
    <a:masterClrMapping/>
  </p:clrMapOvr>
</p:sld>
</file>

<file path=ppt/theme/theme1.xml><?xml version="1.0" encoding="utf-8"?>
<a:theme xmlns:a="http://schemas.openxmlformats.org/drawingml/2006/main" name="ICRtheme">
  <a:themeElements>
    <a:clrScheme name="Custom 50">
      <a:dk1>
        <a:srgbClr val="000000"/>
      </a:dk1>
      <a:lt1>
        <a:srgbClr val="FFFFFF"/>
      </a:lt1>
      <a:dk2>
        <a:srgbClr val="616365"/>
      </a:dk2>
      <a:lt2>
        <a:srgbClr val="A71930"/>
      </a:lt2>
      <a:accent1>
        <a:srgbClr val="EE7EA6"/>
      </a:accent1>
      <a:accent2>
        <a:srgbClr val="F9A100"/>
      </a:accent2>
      <a:accent3>
        <a:srgbClr val="FFD602"/>
      </a:accent3>
      <a:accent4>
        <a:srgbClr val="C9DD03"/>
      </a:accent4>
      <a:accent5>
        <a:srgbClr val="726E20"/>
      </a:accent5>
      <a:accent6>
        <a:srgbClr val="003D4C"/>
      </a:accent6>
      <a:hlink>
        <a:srgbClr val="A0A1A3"/>
      </a:hlink>
      <a:folHlink>
        <a:srgbClr val="0000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CRtheme" id="{8D9ED749-A084-CD44-9664-99D7F34FB974}" vid="{3DFE34B8-30AE-CA4D-A2B6-4A23628167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2517</TotalTime>
  <Words>913</Words>
  <Application>Microsoft Office PowerPoint</Application>
  <PresentationFormat>On-screen Show (16:9)</PresentationFormat>
  <Paragraphs>139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Georgia</vt:lpstr>
      <vt:lpstr>Wingdings</vt:lpstr>
      <vt:lpstr>ICRtheme</vt:lpstr>
      <vt:lpstr>Mathematical Foundations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Foundations of Machine Learning</dc:title>
  <dc:subject>PptxGenJS Presentation</dc:subject>
  <dc:creator>Mathematical Foundations</dc:creator>
  <cp:lastModifiedBy>Priya Narayanan</cp:lastModifiedBy>
  <cp:revision>21</cp:revision>
  <dcterms:created xsi:type="dcterms:W3CDTF">2025-10-29T19:30:05Z</dcterms:created>
  <dcterms:modified xsi:type="dcterms:W3CDTF">2025-11-06T16:48:09Z</dcterms:modified>
</cp:coreProperties>
</file>